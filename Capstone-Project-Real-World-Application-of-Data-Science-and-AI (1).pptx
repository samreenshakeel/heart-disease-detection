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4630400" cy="8229600"/>
  <p:notesSz cx="8229600" cy="14630400"/>
  <p:embeddedFontLst>
    <p:embeddedFont>
      <p:font typeface="Fraunces Medium"/>
      <p:regular r:id="rId19"/>
    </p:embeddedFont>
    <p:embeddedFont>
      <p:font typeface="Fraunces Medium"/>
      <p:regular r:id="rId20"/>
    </p:embeddedFont>
    <p:embeddedFont>
      <p:font typeface="Fraunces Medium"/>
      <p:regular r:id="rId21"/>
    </p:embeddedFont>
    <p:embeddedFont>
      <p:font typeface="Fraunces Medium"/>
      <p:regular r:id="rId22"/>
    </p:embeddedFont>
    <p:embeddedFont>
      <p:font typeface="Epilogue"/>
      <p:regular r:id="rId23"/>
    </p:embeddedFont>
    <p:embeddedFont>
      <p:font typeface="Epilogue"/>
      <p:regular r:id="rId24"/>
    </p:embeddedFont>
    <p:embeddedFont>
      <p:font typeface="Epilogue"/>
      <p:regular r:id="rId25"/>
    </p:embeddedFont>
    <p:embeddedFont>
      <p:font typeface="Epilogue"/>
      <p:regular r:id="rId26"/>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openxmlformats.org/officeDocument/2006/relationships/font" Target="fonts/font1.fntdata"/><Relationship Id="rId20" Type="http://schemas.openxmlformats.org/officeDocument/2006/relationships/font" Target="fonts/font2.fntdata"/><Relationship Id="rId21" Type="http://schemas.openxmlformats.org/officeDocument/2006/relationships/font" Target="fonts/font3.fntdata"/><Relationship Id="rId22" Type="http://schemas.openxmlformats.org/officeDocument/2006/relationships/font" Target="fonts/font4.fntdata"/><Relationship Id="rId23" Type="http://schemas.openxmlformats.org/officeDocument/2006/relationships/font" Target="fonts/font5.fntdata"/><Relationship Id="rId24" Type="http://schemas.openxmlformats.org/officeDocument/2006/relationships/font" Target="fonts/font6.fntdata"/><Relationship Id="rId25" Type="http://schemas.openxmlformats.org/officeDocument/2006/relationships/font" Target="fonts/font7.fntdata"/><Relationship Id="rId26"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1-1.png"/><Relationship Id="rId3"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2-1.png"/><Relationship Id="rId3"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3-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8AFCC"/>
          </a:solidFill>
          <a:ln/>
        </p:spPr>
      </p:sp>
      <p:sp>
        <p:nvSpPr>
          <p:cNvPr id="3" name="Shape 1"/>
          <p:cNvSpPr/>
          <p:nvPr/>
        </p:nvSpPr>
        <p:spPr>
          <a:xfrm>
            <a:off x="0" y="0"/>
            <a:ext cx="14630400" cy="8229600"/>
          </a:xfrm>
          <a:prstGeom prst="rect">
            <a:avLst/>
          </a:prstGeom>
          <a:solidFill>
            <a:srgbClr val="080E26"/>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8AFCC"/>
          </a:solidFill>
          <a:ln/>
        </p:spPr>
      </p:sp>
      <p:sp>
        <p:nvSpPr>
          <p:cNvPr id="3" name="Shape 1"/>
          <p:cNvSpPr/>
          <p:nvPr/>
        </p:nvSpPr>
        <p:spPr>
          <a:xfrm>
            <a:off x="0" y="0"/>
            <a:ext cx="14630400" cy="8229600"/>
          </a:xfrm>
          <a:prstGeom prst="rect">
            <a:avLst/>
          </a:prstGeom>
          <a:solidFill>
            <a:srgbClr val="080E26"/>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8AFCC"/>
          </a:solidFill>
          <a:ln/>
        </p:spPr>
      </p:sp>
      <p:sp>
        <p:nvSpPr>
          <p:cNvPr id="3" name="Shape 1"/>
          <p:cNvSpPr/>
          <p:nvPr/>
        </p:nvSpPr>
        <p:spPr>
          <a:xfrm>
            <a:off x="0" y="0"/>
            <a:ext cx="14630400" cy="8229600"/>
          </a:xfrm>
          <a:prstGeom prst="rect">
            <a:avLst/>
          </a:prstGeom>
          <a:solidFill>
            <a:srgbClr val="080E26"/>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8AFCC"/>
          </a:solidFill>
          <a:ln/>
        </p:spPr>
      </p:sp>
      <p:sp>
        <p:nvSpPr>
          <p:cNvPr id="3" name="Shape 1"/>
          <p:cNvSpPr/>
          <p:nvPr/>
        </p:nvSpPr>
        <p:spPr>
          <a:xfrm>
            <a:off x="0" y="0"/>
            <a:ext cx="14630400" cy="8229600"/>
          </a:xfrm>
          <a:prstGeom prst="rect">
            <a:avLst/>
          </a:prstGeom>
          <a:solidFill>
            <a:srgbClr val="080E26"/>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8AFCC"/>
          </a:solidFill>
          <a:ln/>
        </p:spPr>
      </p:sp>
      <p:sp>
        <p:nvSpPr>
          <p:cNvPr id="3" name="Shape 1"/>
          <p:cNvSpPr/>
          <p:nvPr/>
        </p:nvSpPr>
        <p:spPr>
          <a:xfrm>
            <a:off x="0" y="0"/>
            <a:ext cx="14630400" cy="8229600"/>
          </a:xfrm>
          <a:prstGeom prst="rect">
            <a:avLst/>
          </a:prstGeom>
          <a:solidFill>
            <a:srgbClr val="080E26"/>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8AFCC"/>
          </a:solidFill>
          <a:ln/>
        </p:spPr>
      </p:sp>
      <p:sp>
        <p:nvSpPr>
          <p:cNvPr id="3" name="Shape 1"/>
          <p:cNvSpPr/>
          <p:nvPr/>
        </p:nvSpPr>
        <p:spPr>
          <a:xfrm>
            <a:off x="0" y="0"/>
            <a:ext cx="14630400" cy="8229600"/>
          </a:xfrm>
          <a:prstGeom prst="rect">
            <a:avLst/>
          </a:prstGeom>
          <a:solidFill>
            <a:srgbClr val="080E26"/>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8AFCC"/>
          </a:solidFill>
          <a:ln/>
        </p:spPr>
      </p:sp>
      <p:sp>
        <p:nvSpPr>
          <p:cNvPr id="3" name="Shape 1"/>
          <p:cNvSpPr/>
          <p:nvPr/>
        </p:nvSpPr>
        <p:spPr>
          <a:xfrm>
            <a:off x="0" y="0"/>
            <a:ext cx="14630400" cy="8229600"/>
          </a:xfrm>
          <a:prstGeom prst="rect">
            <a:avLst/>
          </a:prstGeom>
          <a:solidFill>
            <a:srgbClr val="080E26"/>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8AFCC"/>
          </a:solidFill>
          <a:ln/>
        </p:spPr>
      </p:sp>
      <p:sp>
        <p:nvSpPr>
          <p:cNvPr id="3" name="Shape 1"/>
          <p:cNvSpPr/>
          <p:nvPr/>
        </p:nvSpPr>
        <p:spPr>
          <a:xfrm>
            <a:off x="0" y="0"/>
            <a:ext cx="14630400" cy="8229600"/>
          </a:xfrm>
          <a:prstGeom prst="rect">
            <a:avLst/>
          </a:prstGeom>
          <a:solidFill>
            <a:srgbClr val="080E26"/>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8AFCC"/>
          </a:solidFill>
          <a:ln/>
        </p:spPr>
      </p:sp>
      <p:sp>
        <p:nvSpPr>
          <p:cNvPr id="3" name="Shape 1"/>
          <p:cNvSpPr/>
          <p:nvPr/>
        </p:nvSpPr>
        <p:spPr>
          <a:xfrm>
            <a:off x="0" y="0"/>
            <a:ext cx="14630400" cy="8229600"/>
          </a:xfrm>
          <a:prstGeom prst="rect">
            <a:avLst/>
          </a:prstGeom>
          <a:solidFill>
            <a:srgbClr val="080E26"/>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8AFCC"/>
          </a:solidFill>
          <a:ln/>
        </p:spPr>
      </p:sp>
      <p:sp>
        <p:nvSpPr>
          <p:cNvPr id="3" name="Shape 1"/>
          <p:cNvSpPr/>
          <p:nvPr/>
        </p:nvSpPr>
        <p:spPr>
          <a:xfrm>
            <a:off x="0" y="0"/>
            <a:ext cx="14630400" cy="8229600"/>
          </a:xfrm>
          <a:prstGeom prst="rect">
            <a:avLst/>
          </a:prstGeom>
          <a:solidFill>
            <a:srgbClr val="080E26"/>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8AFCC"/>
          </a:solidFill>
          <a:ln/>
        </p:spPr>
      </p:sp>
      <p:sp>
        <p:nvSpPr>
          <p:cNvPr id="3" name="Shape 1"/>
          <p:cNvSpPr/>
          <p:nvPr/>
        </p:nvSpPr>
        <p:spPr>
          <a:xfrm>
            <a:off x="0" y="0"/>
            <a:ext cx="14630400" cy="8229600"/>
          </a:xfrm>
          <a:prstGeom prst="rect">
            <a:avLst/>
          </a:prstGeom>
          <a:solidFill>
            <a:srgbClr val="080E26"/>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8AFCC"/>
          </a:solidFill>
          <a:ln/>
        </p:spPr>
      </p:sp>
      <p:sp>
        <p:nvSpPr>
          <p:cNvPr id="3" name="Shape 1"/>
          <p:cNvSpPr/>
          <p:nvPr/>
        </p:nvSpPr>
        <p:spPr>
          <a:xfrm>
            <a:off x="0" y="0"/>
            <a:ext cx="14630400" cy="8229600"/>
          </a:xfrm>
          <a:prstGeom prst="rect">
            <a:avLst/>
          </a:prstGeom>
          <a:solidFill>
            <a:srgbClr val="080E26"/>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5.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6.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7.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8.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2" Type="http://schemas.openxmlformats.org/officeDocument/2006/relationships/hyperlink" Target="https://github.com/heartdisease-prediction/capstone" TargetMode="External"/><Relationship Id="rId3" Type="http://schemas.openxmlformats.org/officeDocument/2006/relationships/hyperlink" Target="https://github.com/samreenshakeel/Heart-Disease-Detection.git" TargetMode="External"/><Relationship Id="rId5" Type="http://schemas.openxmlformats.org/officeDocument/2006/relationships/hyperlink" Target="https://github.com/heartdisease-prediction/capstone/docs/final_report.pdf" TargetMode="External"/><Relationship Id="rId7" Type="http://schemas.openxmlformats.org/officeDocument/2006/relationships/hyperlink" Target="https://github.com/samreenshakeel/Heart-Disease-Detection/blob/main/Heart_Disease_Detection.ipynb" TargetMode="External"/><Relationship Id="rId1" Type="http://schemas.openxmlformats.org/officeDocument/2006/relationships/image" Target="../media/image-11-1.png"/><Relationship Id="rId4" Type="http://schemas.openxmlformats.org/officeDocument/2006/relationships/image" Target="../media/image-11-2.png"/><Relationship Id="rId6" Type="http://schemas.openxmlformats.org/officeDocument/2006/relationships/image" Target="../media/image-11-3.png"/><Relationship Id="rId8" Type="http://schemas.openxmlformats.org/officeDocument/2006/relationships/slideLayout" Target="../slideLayouts/slideLayout12.xml"/><Relationship Id="rId9"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32458"/>
          </a:xfrm>
          <a:prstGeom prst="rect">
            <a:avLst/>
          </a:prstGeom>
        </p:spPr>
      </p:pic>
      <p:sp>
        <p:nvSpPr>
          <p:cNvPr id="3" name="Text 0"/>
          <p:cNvSpPr/>
          <p:nvPr/>
        </p:nvSpPr>
        <p:spPr>
          <a:xfrm>
            <a:off x="789503" y="620316"/>
            <a:ext cx="7564993" cy="2114550"/>
          </a:xfrm>
          <a:prstGeom prst="rect">
            <a:avLst/>
          </a:prstGeom>
          <a:noFill/>
          <a:ln/>
        </p:spPr>
        <p:txBody>
          <a:bodyPr wrap="square" lIns="0" tIns="0" rIns="0" bIns="0" rtlCol="0" anchor="t"/>
          <a:lstStyle/>
          <a:p>
            <a:pPr algn="l" indent="0" marL="0">
              <a:lnSpc>
                <a:spcPts val="5550"/>
              </a:lnSpc>
              <a:buNone/>
            </a:pPr>
            <a:r>
              <a:rPr lang="en-US" sz="4400" i="1" dirty="0">
                <a:solidFill>
                  <a:srgbClr val="FFFFFF"/>
                </a:solidFill>
                <a:latin typeface="Fraunces Medium" pitchFamily="34" charset="0"/>
                <a:ea typeface="Fraunces Medium" pitchFamily="34" charset="-122"/>
                <a:cs typeface="Fraunces Medium" pitchFamily="34" charset="-120"/>
              </a:rPr>
              <a:t>Capstone Project – Real-World Application of Data Science &amp; AI</a:t>
            </a:r>
            <a:endParaRPr lang="en-US" sz="4400" dirty="0"/>
          </a:p>
        </p:txBody>
      </p:sp>
      <p:sp>
        <p:nvSpPr>
          <p:cNvPr id="4" name="Text 1"/>
          <p:cNvSpPr/>
          <p:nvPr/>
        </p:nvSpPr>
        <p:spPr>
          <a:xfrm>
            <a:off x="789503" y="3073122"/>
            <a:ext cx="6388179" cy="563880"/>
          </a:xfrm>
          <a:prstGeom prst="rect">
            <a:avLst/>
          </a:prstGeom>
          <a:noFill/>
          <a:ln/>
        </p:spPr>
        <p:txBody>
          <a:bodyPr wrap="none" lIns="0" tIns="0" rIns="0" bIns="0" rtlCol="0" anchor="t"/>
          <a:lstStyle/>
          <a:p>
            <a:pPr algn="l" indent="0" marL="0">
              <a:lnSpc>
                <a:spcPts val="4400"/>
              </a:lnSpc>
              <a:buNone/>
            </a:pPr>
            <a:r>
              <a:rPr lang="en-US" sz="3550" i="1" dirty="0">
                <a:solidFill>
                  <a:srgbClr val="FFFFFF"/>
                </a:solidFill>
                <a:latin typeface="Fraunces Medium" pitchFamily="34" charset="0"/>
                <a:ea typeface="Fraunces Medium" pitchFamily="34" charset="-122"/>
                <a:cs typeface="Fraunces Medium" pitchFamily="34" charset="-120"/>
              </a:rPr>
              <a:t>Title: Heart Disease Detection</a:t>
            </a:r>
            <a:endParaRPr lang="en-US" sz="3550" dirty="0"/>
          </a:p>
        </p:txBody>
      </p:sp>
      <p:sp>
        <p:nvSpPr>
          <p:cNvPr id="5" name="Text 2"/>
          <p:cNvSpPr/>
          <p:nvPr/>
        </p:nvSpPr>
        <p:spPr>
          <a:xfrm>
            <a:off x="789503" y="3975259"/>
            <a:ext cx="6201489" cy="1268730"/>
          </a:xfrm>
          <a:prstGeom prst="rect">
            <a:avLst/>
          </a:prstGeom>
          <a:noFill/>
          <a:ln/>
        </p:spPr>
        <p:txBody>
          <a:bodyPr wrap="square" lIns="0" tIns="0" rIns="0" bIns="0" rtlCol="0" anchor="t"/>
          <a:lstStyle/>
          <a:p>
            <a:pPr algn="l" indent="0" marL="0">
              <a:lnSpc>
                <a:spcPts val="3300"/>
              </a:lnSpc>
              <a:buNone/>
            </a:pPr>
            <a:r>
              <a:rPr lang="en-US" sz="2650" b="1" dirty="0">
                <a:solidFill>
                  <a:srgbClr val="FFFFFF"/>
                </a:solidFill>
                <a:latin typeface="Fraunces Medium" pitchFamily="34" charset="0"/>
                <a:ea typeface="Fraunces Medium" pitchFamily="34" charset="-122"/>
                <a:cs typeface="Fraunces Medium" pitchFamily="34" charset="-120"/>
              </a:rPr>
              <a:t>Submitted By</a:t>
            </a:r>
            <a:pPr algn="l" indent="0" marL="0">
              <a:lnSpc>
                <a:spcPts val="3300"/>
              </a:lnSpc>
              <a:buNone/>
            </a:pPr>
            <a:r>
              <a:rPr lang="en-US" sz="2650" dirty="0">
                <a:solidFill>
                  <a:srgbClr val="FFFFFF"/>
                </a:solidFill>
                <a:latin typeface="Fraunces Medium" pitchFamily="34" charset="0"/>
                <a:ea typeface="Fraunces Medium" pitchFamily="34" charset="-122"/>
                <a:cs typeface="Fraunces Medium" pitchFamily="34" charset="-120"/>
              </a:rPr>
              <a:t>:</a:t>
            </a:r>
            <a:pPr algn="l" indent="0" marL="0">
              <a:lnSpc>
                <a:spcPts val="3300"/>
              </a:lnSpc>
              <a:buNone/>
            </a:pPr>
            <a:r>
              <a:rPr lang="en-US" sz="2650" b="1" dirty="0">
                <a:solidFill>
                  <a:srgbClr val="FFFFFF"/>
                </a:solidFill>
                <a:latin typeface="Fraunces Medium" pitchFamily="34" charset="0"/>
                <a:ea typeface="Fraunces Medium" pitchFamily="34" charset="-122"/>
                <a:cs typeface="Fraunces Medium" pitchFamily="34" charset="-120"/>
              </a:rPr>
              <a:t>Samreen Shakeel</a:t>
            </a:r>
            <a:pPr algn="l" indent="0" marL="0">
              <a:lnSpc>
                <a:spcPts val="3300"/>
              </a:lnSpc>
              <a:buNone/>
            </a:pPr>
            <a:r>
              <a:rPr lang="en-US" sz="2650" dirty="0">
                <a:solidFill>
                  <a:srgbClr val="FFFFFF"/>
                </a:solidFill>
                <a:latin typeface="Fraunces Medium" pitchFamily="34" charset="0"/>
                <a:ea typeface="Fraunces Medium" pitchFamily="34" charset="-122"/>
                <a:cs typeface="Fraunces Medium" pitchFamily="34" charset="-120"/>
              </a:rPr>
              <a:t>Batch: Data Science &amp; AI - Navttc 2025</a:t>
            </a:r>
            <a:endParaRPr lang="en-US" sz="2650" dirty="0"/>
          </a:p>
        </p:txBody>
      </p:sp>
      <p:sp>
        <p:nvSpPr>
          <p:cNvPr id="6" name="Text 3"/>
          <p:cNvSpPr/>
          <p:nvPr/>
        </p:nvSpPr>
        <p:spPr>
          <a:xfrm>
            <a:off x="789503" y="5582245"/>
            <a:ext cx="3803094" cy="845820"/>
          </a:xfrm>
          <a:prstGeom prst="rect">
            <a:avLst/>
          </a:prstGeom>
          <a:noFill/>
          <a:ln/>
        </p:spPr>
        <p:txBody>
          <a:bodyPr wrap="square" lIns="0" tIns="0" rIns="0" bIns="0" rtlCol="0" anchor="t"/>
          <a:lstStyle/>
          <a:p>
            <a:pPr algn="l" indent="0" marL="0">
              <a:lnSpc>
                <a:spcPts val="3300"/>
              </a:lnSpc>
              <a:buNone/>
            </a:pPr>
            <a:r>
              <a:rPr lang="en-US" sz="2650" dirty="0">
                <a:solidFill>
                  <a:srgbClr val="FFFFFF"/>
                </a:solidFill>
                <a:latin typeface="Fraunces Medium" pitchFamily="34" charset="0"/>
                <a:ea typeface="Fraunces Medium" pitchFamily="34" charset="-122"/>
                <a:cs typeface="Fraunces Medium" pitchFamily="34" charset="-120"/>
              </a:rPr>
              <a:t> </a:t>
            </a:r>
            <a:pPr algn="l" indent="0" marL="0">
              <a:lnSpc>
                <a:spcPts val="3300"/>
              </a:lnSpc>
              <a:buNone/>
            </a:pPr>
            <a:r>
              <a:rPr lang="en-US" sz="2650" b="1" dirty="0">
                <a:solidFill>
                  <a:srgbClr val="FFFFFF"/>
                </a:solidFill>
                <a:latin typeface="Fraunces Medium" pitchFamily="34" charset="0"/>
                <a:ea typeface="Fraunces Medium" pitchFamily="34" charset="-122"/>
                <a:cs typeface="Fraunces Medium" pitchFamily="34" charset="-120"/>
              </a:rPr>
              <a:t>Submitted To</a:t>
            </a:r>
            <a:pPr algn="l" indent="0" marL="0">
              <a:lnSpc>
                <a:spcPts val="3300"/>
              </a:lnSpc>
              <a:buNone/>
            </a:pPr>
            <a:r>
              <a:rPr lang="en-US" sz="2650" dirty="0">
                <a:solidFill>
                  <a:srgbClr val="FFFFFF"/>
                </a:solidFill>
                <a:latin typeface="Fraunces Medium" pitchFamily="34" charset="0"/>
                <a:ea typeface="Fraunces Medium" pitchFamily="34" charset="-122"/>
                <a:cs typeface="Fraunces Medium" pitchFamily="34" charset="-120"/>
              </a:rPr>
              <a:t>:</a:t>
            </a:r>
            <a:pPr algn="l" indent="0" marL="0">
              <a:lnSpc>
                <a:spcPts val="3300"/>
              </a:lnSpc>
              <a:buNone/>
            </a:pPr>
            <a:r>
              <a:rPr lang="en-US" sz="2650" b="1" dirty="0">
                <a:solidFill>
                  <a:srgbClr val="FFFFFF"/>
                </a:solidFill>
                <a:latin typeface="Fraunces Medium" pitchFamily="34" charset="0"/>
                <a:ea typeface="Fraunces Medium" pitchFamily="34" charset="-122"/>
                <a:cs typeface="Fraunces Medium" pitchFamily="34" charset="-120"/>
              </a:rPr>
              <a:t>Sir Muhammad Waqar</a:t>
            </a:r>
            <a:endParaRPr lang="en-US" sz="2650" dirty="0"/>
          </a:p>
        </p:txBody>
      </p:sp>
      <p:sp>
        <p:nvSpPr>
          <p:cNvPr id="7" name="Text 4"/>
          <p:cNvSpPr/>
          <p:nvPr/>
        </p:nvSpPr>
        <p:spPr>
          <a:xfrm>
            <a:off x="789503" y="6766322"/>
            <a:ext cx="3383518" cy="845820"/>
          </a:xfrm>
          <a:prstGeom prst="rect">
            <a:avLst/>
          </a:prstGeom>
          <a:noFill/>
          <a:ln/>
        </p:spPr>
        <p:txBody>
          <a:bodyPr wrap="square" lIns="0" tIns="0" rIns="0" bIns="0" rtlCol="0" anchor="t"/>
          <a:lstStyle/>
          <a:p>
            <a:pPr algn="l" indent="0" marL="0">
              <a:lnSpc>
                <a:spcPts val="3300"/>
              </a:lnSpc>
              <a:buNone/>
            </a:pPr>
            <a:r>
              <a:rPr lang="en-US" sz="2650" b="1" dirty="0">
                <a:solidFill>
                  <a:srgbClr val="FFFFFF"/>
                </a:solidFill>
                <a:latin typeface="Fraunces Medium" pitchFamily="34" charset="0"/>
                <a:ea typeface="Fraunces Medium" pitchFamily="34" charset="-122"/>
                <a:cs typeface="Fraunces Medium" pitchFamily="34" charset="-120"/>
              </a:rPr>
              <a:t>Submission Date</a:t>
            </a:r>
            <a:pPr algn="l" indent="0" marL="0">
              <a:lnSpc>
                <a:spcPts val="3300"/>
              </a:lnSpc>
              <a:buNone/>
            </a:pPr>
            <a:r>
              <a:rPr lang="en-US" sz="2650" dirty="0">
                <a:solidFill>
                  <a:srgbClr val="FFFFFF"/>
                </a:solidFill>
                <a:latin typeface="Fraunces Medium" pitchFamily="34" charset="0"/>
                <a:ea typeface="Fraunces Medium" pitchFamily="34" charset="-122"/>
                <a:cs typeface="Fraunces Medium" pitchFamily="34" charset="-120"/>
              </a:rPr>
              <a:t>:</a:t>
            </a:r>
            <a:pPr algn="l" indent="0" marL="0">
              <a:lnSpc>
                <a:spcPts val="3300"/>
              </a:lnSpc>
              <a:buNone/>
            </a:pPr>
            <a:r>
              <a:rPr lang="en-US" sz="2650" b="1" dirty="0">
                <a:solidFill>
                  <a:srgbClr val="FFFFFF"/>
                </a:solidFill>
                <a:latin typeface="Fraunces Medium" pitchFamily="34" charset="0"/>
                <a:ea typeface="Fraunces Medium" pitchFamily="34" charset="-122"/>
                <a:cs typeface="Fraunces Medium" pitchFamily="34" charset="-120"/>
              </a:rPr>
              <a:t>23 July 2025</a:t>
            </a:r>
            <a:endParaRPr lang="en-US" sz="26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1974294"/>
            <a:ext cx="7556421" cy="2126337"/>
          </a:xfrm>
          <a:prstGeom prst="rect">
            <a:avLst/>
          </a:prstGeom>
          <a:noFill/>
          <a:ln/>
        </p:spPr>
        <p:txBody>
          <a:bodyPr wrap="square" lIns="0" tIns="0" rIns="0" bIns="0" rtlCol="0" anchor="t"/>
          <a:lstStyle/>
          <a:p>
            <a:pPr algn="l" indent="0" marL="0">
              <a:lnSpc>
                <a:spcPts val="5550"/>
              </a:lnSpc>
              <a:buNone/>
            </a:pPr>
            <a:r>
              <a:rPr lang="en-US" sz="4450" dirty="0">
                <a:solidFill>
                  <a:srgbClr val="FFFFFF"/>
                </a:solidFill>
                <a:latin typeface="Fraunces Medium" pitchFamily="34" charset="0"/>
                <a:ea typeface="Fraunces Medium" pitchFamily="34" charset="-122"/>
                <a:cs typeface="Fraunces Medium" pitchFamily="34" charset="-120"/>
              </a:rPr>
              <a:t>Heart Disease Prediction: A Data Science &amp; AI Approach</a:t>
            </a:r>
            <a:endParaRPr lang="en-US" sz="4450" dirty="0"/>
          </a:p>
        </p:txBody>
      </p:sp>
      <p:sp>
        <p:nvSpPr>
          <p:cNvPr id="4" name="Text 1"/>
          <p:cNvSpPr/>
          <p:nvPr/>
        </p:nvSpPr>
        <p:spPr>
          <a:xfrm>
            <a:off x="793790" y="4440793"/>
            <a:ext cx="7556421" cy="1814513"/>
          </a:xfrm>
          <a:prstGeom prst="rect">
            <a:avLst/>
          </a:prstGeom>
          <a:noFill/>
          <a:ln/>
        </p:spPr>
        <p:txBody>
          <a:bodyPr wrap="square" lIns="0" tIns="0" rIns="0" bIns="0" rtlCol="0" anchor="t"/>
          <a:lstStyle/>
          <a:p>
            <a:pPr algn="l" indent="0" marL="0">
              <a:lnSpc>
                <a:spcPts val="2850"/>
              </a:lnSpc>
              <a:buNone/>
            </a:pPr>
            <a:r>
              <a:rPr lang="en-US" sz="1750" dirty="0">
                <a:solidFill>
                  <a:srgbClr val="EBECEF"/>
                </a:solidFill>
                <a:latin typeface="Epilogue" pitchFamily="34" charset="0"/>
                <a:ea typeface="Epilogue" pitchFamily="34" charset="-122"/>
                <a:cs typeface="Epilogue" pitchFamily="34" charset="-120"/>
              </a:rPr>
              <a:t>Welcome to our capstone project presentation on applying advanced data science and artificial intelligence techniques to predict heart disease. This project demonstrates how machine learning can transform healthcare diagnostics, potentially saving lives through early detection and intervention.</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680918"/>
            <a:ext cx="5670590" cy="708779"/>
          </a:xfrm>
          <a:prstGeom prst="rect">
            <a:avLst/>
          </a:prstGeom>
          <a:noFill/>
          <a:ln/>
        </p:spPr>
        <p:txBody>
          <a:bodyPr wrap="none" lIns="0" tIns="0" rIns="0" bIns="0" rtlCol="0" anchor="t"/>
          <a:lstStyle/>
          <a:p>
            <a:pPr algn="l" indent="0" marL="0">
              <a:lnSpc>
                <a:spcPts val="5550"/>
              </a:lnSpc>
              <a:buNone/>
            </a:pPr>
            <a:r>
              <a:rPr lang="en-US" sz="4450" dirty="0">
                <a:solidFill>
                  <a:srgbClr val="FFFFFF"/>
                </a:solidFill>
                <a:latin typeface="Fraunces Medium" pitchFamily="34" charset="0"/>
                <a:ea typeface="Fraunces Medium" pitchFamily="34" charset="-122"/>
                <a:cs typeface="Fraunces Medium" pitchFamily="34" charset="-120"/>
              </a:rPr>
              <a:t>Agenda</a:t>
            </a:r>
            <a:endParaRPr lang="en-US" sz="4450" dirty="0"/>
          </a:p>
        </p:txBody>
      </p:sp>
      <p:sp>
        <p:nvSpPr>
          <p:cNvPr id="3" name="Shape 1"/>
          <p:cNvSpPr/>
          <p:nvPr/>
        </p:nvSpPr>
        <p:spPr>
          <a:xfrm>
            <a:off x="793790" y="2183487"/>
            <a:ext cx="4196358" cy="2757726"/>
          </a:xfrm>
          <a:prstGeom prst="roundRect">
            <a:avLst>
              <a:gd name="adj" fmla="val 5305"/>
            </a:avLst>
          </a:prstGeom>
          <a:solidFill>
            <a:srgbClr val="080E26"/>
          </a:solidFill>
          <a:ln/>
        </p:spPr>
      </p:sp>
      <p:sp>
        <p:nvSpPr>
          <p:cNvPr id="4" name="Shape 2"/>
          <p:cNvSpPr/>
          <p:nvPr/>
        </p:nvSpPr>
        <p:spPr>
          <a:xfrm>
            <a:off x="793790" y="2153007"/>
            <a:ext cx="4196358" cy="121920"/>
          </a:xfrm>
          <a:prstGeom prst="roundRect">
            <a:avLst>
              <a:gd name="adj" fmla="val 78139"/>
            </a:avLst>
          </a:prstGeom>
          <a:solidFill>
            <a:srgbClr val="8C98CA"/>
          </a:solidFill>
          <a:ln/>
        </p:spPr>
      </p:sp>
      <p:sp>
        <p:nvSpPr>
          <p:cNvPr id="5" name="Shape 3"/>
          <p:cNvSpPr/>
          <p:nvPr/>
        </p:nvSpPr>
        <p:spPr>
          <a:xfrm>
            <a:off x="2551688" y="1843326"/>
            <a:ext cx="680442" cy="680442"/>
          </a:xfrm>
          <a:prstGeom prst="roundRect">
            <a:avLst>
              <a:gd name="adj" fmla="val 134383"/>
            </a:avLst>
          </a:prstGeom>
          <a:solidFill>
            <a:srgbClr val="8C98CA"/>
          </a:solidFill>
          <a:ln/>
        </p:spPr>
      </p:sp>
      <p:sp>
        <p:nvSpPr>
          <p:cNvPr id="6" name="Text 4"/>
          <p:cNvSpPr/>
          <p:nvPr/>
        </p:nvSpPr>
        <p:spPr>
          <a:xfrm>
            <a:off x="2755761" y="2013466"/>
            <a:ext cx="272177" cy="340162"/>
          </a:xfrm>
          <a:prstGeom prst="rect">
            <a:avLst/>
          </a:prstGeom>
          <a:noFill/>
          <a:ln/>
        </p:spPr>
        <p:txBody>
          <a:bodyPr wrap="none" lIns="0" tIns="0" rIns="0" bIns="0" rtlCol="0" anchor="t"/>
          <a:lstStyle/>
          <a:p>
            <a:pPr algn="l" indent="0" marL="0">
              <a:lnSpc>
                <a:spcPts val="3400"/>
              </a:lnSpc>
              <a:buNone/>
            </a:pPr>
            <a:r>
              <a:rPr lang="en-US" sz="2100" dirty="0">
                <a:solidFill>
                  <a:srgbClr val="000000"/>
                </a:solidFill>
                <a:latin typeface="Fraunces Medium" pitchFamily="34" charset="0"/>
                <a:ea typeface="Fraunces Medium" pitchFamily="34" charset="-122"/>
                <a:cs typeface="Fraunces Medium" pitchFamily="34" charset="-120"/>
              </a:rPr>
              <a:t>1</a:t>
            </a:r>
            <a:endParaRPr lang="en-US" sz="2100" dirty="0"/>
          </a:p>
        </p:txBody>
      </p:sp>
      <p:sp>
        <p:nvSpPr>
          <p:cNvPr id="7" name="Text 5"/>
          <p:cNvSpPr/>
          <p:nvPr/>
        </p:nvSpPr>
        <p:spPr>
          <a:xfrm>
            <a:off x="1051084" y="2750463"/>
            <a:ext cx="3681770" cy="708660"/>
          </a:xfrm>
          <a:prstGeom prst="rect">
            <a:avLst/>
          </a:prstGeom>
          <a:noFill/>
          <a:ln/>
        </p:spPr>
        <p:txBody>
          <a:bodyPr wrap="square" lIns="0" tIns="0" rIns="0" bIns="0" rtlCol="0" anchor="t"/>
          <a:lstStyle/>
          <a:p>
            <a:pPr algn="l" indent="0" marL="0">
              <a:lnSpc>
                <a:spcPts val="2750"/>
              </a:lnSpc>
              <a:buNone/>
            </a:pPr>
            <a:r>
              <a:rPr lang="en-US" sz="2200" dirty="0">
                <a:solidFill>
                  <a:srgbClr val="EBECEF"/>
                </a:solidFill>
                <a:latin typeface="Fraunces Medium" pitchFamily="34" charset="0"/>
                <a:ea typeface="Fraunces Medium" pitchFamily="34" charset="-122"/>
                <a:cs typeface="Fraunces Medium" pitchFamily="34" charset="-120"/>
              </a:rPr>
              <a:t>Problem Statement &amp; Objectives</a:t>
            </a:r>
            <a:endParaRPr lang="en-US" sz="2200" dirty="0"/>
          </a:p>
        </p:txBody>
      </p:sp>
      <p:sp>
        <p:nvSpPr>
          <p:cNvPr id="8" name="Text 6"/>
          <p:cNvSpPr/>
          <p:nvPr/>
        </p:nvSpPr>
        <p:spPr>
          <a:xfrm>
            <a:off x="1051084" y="3595211"/>
            <a:ext cx="3681770" cy="1088708"/>
          </a:xfrm>
          <a:prstGeom prst="rect">
            <a:avLst/>
          </a:prstGeom>
          <a:noFill/>
          <a:ln/>
        </p:spPr>
        <p:txBody>
          <a:bodyPr wrap="square" lIns="0" tIns="0" rIns="0" bIns="0" rtlCol="0" anchor="t"/>
          <a:lstStyle/>
          <a:p>
            <a:pPr algn="l" indent="0" marL="0">
              <a:lnSpc>
                <a:spcPts val="2850"/>
              </a:lnSpc>
              <a:buNone/>
            </a:pPr>
            <a:r>
              <a:rPr lang="en-US" sz="1750" dirty="0">
                <a:solidFill>
                  <a:srgbClr val="EBECEF"/>
                </a:solidFill>
                <a:latin typeface="Epilogue" pitchFamily="34" charset="0"/>
                <a:ea typeface="Epilogue" pitchFamily="34" charset="-122"/>
                <a:cs typeface="Epilogue" pitchFamily="34" charset="-120"/>
              </a:rPr>
              <a:t>Understanding the challenge of heart disease prediction and our project goals</a:t>
            </a:r>
            <a:endParaRPr lang="en-US" sz="1750" dirty="0"/>
          </a:p>
        </p:txBody>
      </p:sp>
      <p:sp>
        <p:nvSpPr>
          <p:cNvPr id="9" name="Shape 7"/>
          <p:cNvSpPr/>
          <p:nvPr/>
        </p:nvSpPr>
        <p:spPr>
          <a:xfrm>
            <a:off x="5216962" y="2183487"/>
            <a:ext cx="4196358" cy="2757726"/>
          </a:xfrm>
          <a:prstGeom prst="roundRect">
            <a:avLst>
              <a:gd name="adj" fmla="val 5305"/>
            </a:avLst>
          </a:prstGeom>
          <a:solidFill>
            <a:srgbClr val="080E26"/>
          </a:solidFill>
          <a:ln/>
        </p:spPr>
      </p:sp>
      <p:sp>
        <p:nvSpPr>
          <p:cNvPr id="10" name="Shape 8"/>
          <p:cNvSpPr/>
          <p:nvPr/>
        </p:nvSpPr>
        <p:spPr>
          <a:xfrm>
            <a:off x="5216962" y="2153007"/>
            <a:ext cx="4196358" cy="121920"/>
          </a:xfrm>
          <a:prstGeom prst="roundRect">
            <a:avLst>
              <a:gd name="adj" fmla="val 78139"/>
            </a:avLst>
          </a:prstGeom>
          <a:solidFill>
            <a:srgbClr val="8C98CA"/>
          </a:solidFill>
          <a:ln/>
        </p:spPr>
      </p:sp>
      <p:sp>
        <p:nvSpPr>
          <p:cNvPr id="11" name="Shape 9"/>
          <p:cNvSpPr/>
          <p:nvPr/>
        </p:nvSpPr>
        <p:spPr>
          <a:xfrm>
            <a:off x="6974860" y="1843326"/>
            <a:ext cx="680442" cy="680442"/>
          </a:xfrm>
          <a:prstGeom prst="roundRect">
            <a:avLst>
              <a:gd name="adj" fmla="val 134383"/>
            </a:avLst>
          </a:prstGeom>
          <a:solidFill>
            <a:srgbClr val="8C98CA"/>
          </a:solidFill>
          <a:ln/>
        </p:spPr>
      </p:sp>
      <p:sp>
        <p:nvSpPr>
          <p:cNvPr id="12" name="Text 10"/>
          <p:cNvSpPr/>
          <p:nvPr/>
        </p:nvSpPr>
        <p:spPr>
          <a:xfrm>
            <a:off x="7178933" y="2013466"/>
            <a:ext cx="272177" cy="340162"/>
          </a:xfrm>
          <a:prstGeom prst="rect">
            <a:avLst/>
          </a:prstGeom>
          <a:noFill/>
          <a:ln/>
        </p:spPr>
        <p:txBody>
          <a:bodyPr wrap="none" lIns="0" tIns="0" rIns="0" bIns="0" rtlCol="0" anchor="t"/>
          <a:lstStyle/>
          <a:p>
            <a:pPr algn="l" indent="0" marL="0">
              <a:lnSpc>
                <a:spcPts val="3400"/>
              </a:lnSpc>
              <a:buNone/>
            </a:pPr>
            <a:r>
              <a:rPr lang="en-US" sz="2100" dirty="0">
                <a:solidFill>
                  <a:srgbClr val="000000"/>
                </a:solidFill>
                <a:latin typeface="Fraunces Medium" pitchFamily="34" charset="0"/>
                <a:ea typeface="Fraunces Medium" pitchFamily="34" charset="-122"/>
                <a:cs typeface="Fraunces Medium" pitchFamily="34" charset="-120"/>
              </a:rPr>
              <a:t>2</a:t>
            </a:r>
            <a:endParaRPr lang="en-US" sz="2100" dirty="0"/>
          </a:p>
        </p:txBody>
      </p:sp>
      <p:sp>
        <p:nvSpPr>
          <p:cNvPr id="13" name="Text 11"/>
          <p:cNvSpPr/>
          <p:nvPr/>
        </p:nvSpPr>
        <p:spPr>
          <a:xfrm>
            <a:off x="5474256" y="2750463"/>
            <a:ext cx="3681770" cy="708660"/>
          </a:xfrm>
          <a:prstGeom prst="rect">
            <a:avLst/>
          </a:prstGeom>
          <a:noFill/>
          <a:ln/>
        </p:spPr>
        <p:txBody>
          <a:bodyPr wrap="square" lIns="0" tIns="0" rIns="0" bIns="0" rtlCol="0" anchor="t"/>
          <a:lstStyle/>
          <a:p>
            <a:pPr algn="l" indent="0" marL="0">
              <a:lnSpc>
                <a:spcPts val="2750"/>
              </a:lnSpc>
              <a:buNone/>
            </a:pPr>
            <a:r>
              <a:rPr lang="en-US" sz="2200" dirty="0">
                <a:solidFill>
                  <a:srgbClr val="EBECEF"/>
                </a:solidFill>
                <a:latin typeface="Fraunces Medium" pitchFamily="34" charset="0"/>
                <a:ea typeface="Fraunces Medium" pitchFamily="34" charset="-122"/>
                <a:cs typeface="Fraunces Medium" pitchFamily="34" charset="-120"/>
              </a:rPr>
              <a:t>Methodology &amp; Implementation</a:t>
            </a:r>
            <a:endParaRPr lang="en-US" sz="2200" dirty="0"/>
          </a:p>
        </p:txBody>
      </p:sp>
      <p:sp>
        <p:nvSpPr>
          <p:cNvPr id="14" name="Text 12"/>
          <p:cNvSpPr/>
          <p:nvPr/>
        </p:nvSpPr>
        <p:spPr>
          <a:xfrm>
            <a:off x="5474256" y="3595211"/>
            <a:ext cx="3681770" cy="1088708"/>
          </a:xfrm>
          <a:prstGeom prst="rect">
            <a:avLst/>
          </a:prstGeom>
          <a:noFill/>
          <a:ln/>
        </p:spPr>
        <p:txBody>
          <a:bodyPr wrap="square" lIns="0" tIns="0" rIns="0" bIns="0" rtlCol="0" anchor="t"/>
          <a:lstStyle/>
          <a:p>
            <a:pPr algn="l" indent="0" marL="0">
              <a:lnSpc>
                <a:spcPts val="2850"/>
              </a:lnSpc>
              <a:buNone/>
            </a:pPr>
            <a:r>
              <a:rPr lang="en-US" sz="1750" dirty="0">
                <a:solidFill>
                  <a:srgbClr val="EBECEF"/>
                </a:solidFill>
                <a:latin typeface="Epilogue" pitchFamily="34" charset="0"/>
                <a:ea typeface="Epilogue" pitchFamily="34" charset="-122"/>
                <a:cs typeface="Epilogue" pitchFamily="34" charset="-120"/>
              </a:rPr>
              <a:t>Data preprocessing, feature engineering, and model development approach</a:t>
            </a:r>
            <a:endParaRPr lang="en-US" sz="1750" dirty="0"/>
          </a:p>
        </p:txBody>
      </p:sp>
      <p:sp>
        <p:nvSpPr>
          <p:cNvPr id="15" name="Shape 13"/>
          <p:cNvSpPr/>
          <p:nvPr/>
        </p:nvSpPr>
        <p:spPr>
          <a:xfrm>
            <a:off x="9640133" y="2183487"/>
            <a:ext cx="4196358" cy="2757726"/>
          </a:xfrm>
          <a:prstGeom prst="roundRect">
            <a:avLst>
              <a:gd name="adj" fmla="val 5305"/>
            </a:avLst>
          </a:prstGeom>
          <a:solidFill>
            <a:srgbClr val="080E26"/>
          </a:solidFill>
          <a:ln/>
        </p:spPr>
      </p:sp>
      <p:sp>
        <p:nvSpPr>
          <p:cNvPr id="16" name="Shape 14"/>
          <p:cNvSpPr/>
          <p:nvPr/>
        </p:nvSpPr>
        <p:spPr>
          <a:xfrm>
            <a:off x="9640133" y="2153007"/>
            <a:ext cx="4196358" cy="121920"/>
          </a:xfrm>
          <a:prstGeom prst="roundRect">
            <a:avLst>
              <a:gd name="adj" fmla="val 78139"/>
            </a:avLst>
          </a:prstGeom>
          <a:solidFill>
            <a:srgbClr val="8C98CA"/>
          </a:solidFill>
          <a:ln/>
        </p:spPr>
      </p:sp>
      <p:sp>
        <p:nvSpPr>
          <p:cNvPr id="17" name="Shape 15"/>
          <p:cNvSpPr/>
          <p:nvPr/>
        </p:nvSpPr>
        <p:spPr>
          <a:xfrm>
            <a:off x="11398032" y="1843326"/>
            <a:ext cx="680442" cy="680442"/>
          </a:xfrm>
          <a:prstGeom prst="roundRect">
            <a:avLst>
              <a:gd name="adj" fmla="val 134383"/>
            </a:avLst>
          </a:prstGeom>
          <a:solidFill>
            <a:srgbClr val="8C98CA"/>
          </a:solidFill>
          <a:ln/>
        </p:spPr>
      </p:sp>
      <p:sp>
        <p:nvSpPr>
          <p:cNvPr id="18" name="Text 16"/>
          <p:cNvSpPr/>
          <p:nvPr/>
        </p:nvSpPr>
        <p:spPr>
          <a:xfrm>
            <a:off x="11602105" y="2013466"/>
            <a:ext cx="272177" cy="340162"/>
          </a:xfrm>
          <a:prstGeom prst="rect">
            <a:avLst/>
          </a:prstGeom>
          <a:noFill/>
          <a:ln/>
        </p:spPr>
        <p:txBody>
          <a:bodyPr wrap="none" lIns="0" tIns="0" rIns="0" bIns="0" rtlCol="0" anchor="t"/>
          <a:lstStyle/>
          <a:p>
            <a:pPr algn="l" indent="0" marL="0">
              <a:lnSpc>
                <a:spcPts val="3400"/>
              </a:lnSpc>
              <a:buNone/>
            </a:pPr>
            <a:r>
              <a:rPr lang="en-US" sz="2100" dirty="0">
                <a:solidFill>
                  <a:srgbClr val="000000"/>
                </a:solidFill>
                <a:latin typeface="Fraunces Medium" pitchFamily="34" charset="0"/>
                <a:ea typeface="Fraunces Medium" pitchFamily="34" charset="-122"/>
                <a:cs typeface="Fraunces Medium" pitchFamily="34" charset="-120"/>
              </a:rPr>
              <a:t>3</a:t>
            </a:r>
            <a:endParaRPr lang="en-US" sz="2100" dirty="0"/>
          </a:p>
        </p:txBody>
      </p:sp>
      <p:sp>
        <p:nvSpPr>
          <p:cNvPr id="19" name="Text 17"/>
          <p:cNvSpPr/>
          <p:nvPr/>
        </p:nvSpPr>
        <p:spPr>
          <a:xfrm>
            <a:off x="9897427" y="2750463"/>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EBECEF"/>
                </a:solidFill>
                <a:latin typeface="Fraunces Medium" pitchFamily="34" charset="0"/>
                <a:ea typeface="Fraunces Medium" pitchFamily="34" charset="-122"/>
                <a:cs typeface="Fraunces Medium" pitchFamily="34" charset="-120"/>
              </a:rPr>
              <a:t>Results &amp; Analysis</a:t>
            </a:r>
            <a:endParaRPr lang="en-US" sz="2200" dirty="0"/>
          </a:p>
        </p:txBody>
      </p:sp>
      <p:sp>
        <p:nvSpPr>
          <p:cNvPr id="20" name="Text 18"/>
          <p:cNvSpPr/>
          <p:nvPr/>
        </p:nvSpPr>
        <p:spPr>
          <a:xfrm>
            <a:off x="9897427" y="3240881"/>
            <a:ext cx="3681770" cy="1088708"/>
          </a:xfrm>
          <a:prstGeom prst="rect">
            <a:avLst/>
          </a:prstGeom>
          <a:noFill/>
          <a:ln/>
        </p:spPr>
        <p:txBody>
          <a:bodyPr wrap="square" lIns="0" tIns="0" rIns="0" bIns="0" rtlCol="0" anchor="t"/>
          <a:lstStyle/>
          <a:p>
            <a:pPr algn="l" indent="0" marL="0">
              <a:lnSpc>
                <a:spcPts val="2850"/>
              </a:lnSpc>
              <a:buNone/>
            </a:pPr>
            <a:r>
              <a:rPr lang="en-US" sz="1750" dirty="0">
                <a:solidFill>
                  <a:srgbClr val="EBECEF"/>
                </a:solidFill>
                <a:latin typeface="Epilogue" pitchFamily="34" charset="0"/>
                <a:ea typeface="Epilogue" pitchFamily="34" charset="-122"/>
                <a:cs typeface="Epilogue" pitchFamily="34" charset="-120"/>
              </a:rPr>
              <a:t>Model performance metrics and insights from our prediction system</a:t>
            </a:r>
            <a:endParaRPr lang="en-US" sz="1750" dirty="0"/>
          </a:p>
        </p:txBody>
      </p:sp>
      <p:sp>
        <p:nvSpPr>
          <p:cNvPr id="21" name="Shape 19"/>
          <p:cNvSpPr/>
          <p:nvPr/>
        </p:nvSpPr>
        <p:spPr>
          <a:xfrm>
            <a:off x="793790" y="5508188"/>
            <a:ext cx="6407944" cy="2040493"/>
          </a:xfrm>
          <a:prstGeom prst="roundRect">
            <a:avLst>
              <a:gd name="adj" fmla="val 7170"/>
            </a:avLst>
          </a:prstGeom>
          <a:solidFill>
            <a:srgbClr val="080E26"/>
          </a:solidFill>
          <a:ln/>
        </p:spPr>
      </p:sp>
      <p:sp>
        <p:nvSpPr>
          <p:cNvPr id="22" name="Shape 20"/>
          <p:cNvSpPr/>
          <p:nvPr/>
        </p:nvSpPr>
        <p:spPr>
          <a:xfrm>
            <a:off x="793790" y="5477708"/>
            <a:ext cx="6407944" cy="121920"/>
          </a:xfrm>
          <a:prstGeom prst="roundRect">
            <a:avLst>
              <a:gd name="adj" fmla="val 78139"/>
            </a:avLst>
          </a:prstGeom>
          <a:solidFill>
            <a:srgbClr val="8C98CA"/>
          </a:solidFill>
          <a:ln/>
        </p:spPr>
      </p:sp>
      <p:sp>
        <p:nvSpPr>
          <p:cNvPr id="23" name="Shape 21"/>
          <p:cNvSpPr/>
          <p:nvPr/>
        </p:nvSpPr>
        <p:spPr>
          <a:xfrm>
            <a:off x="3657540" y="5168027"/>
            <a:ext cx="680442" cy="680442"/>
          </a:xfrm>
          <a:prstGeom prst="roundRect">
            <a:avLst>
              <a:gd name="adj" fmla="val 134383"/>
            </a:avLst>
          </a:prstGeom>
          <a:solidFill>
            <a:srgbClr val="8C98CA"/>
          </a:solidFill>
          <a:ln/>
        </p:spPr>
      </p:sp>
      <p:sp>
        <p:nvSpPr>
          <p:cNvPr id="24" name="Text 22"/>
          <p:cNvSpPr/>
          <p:nvPr/>
        </p:nvSpPr>
        <p:spPr>
          <a:xfrm>
            <a:off x="3861614" y="5338167"/>
            <a:ext cx="272177" cy="340162"/>
          </a:xfrm>
          <a:prstGeom prst="rect">
            <a:avLst/>
          </a:prstGeom>
          <a:noFill/>
          <a:ln/>
        </p:spPr>
        <p:txBody>
          <a:bodyPr wrap="none" lIns="0" tIns="0" rIns="0" bIns="0" rtlCol="0" anchor="t"/>
          <a:lstStyle/>
          <a:p>
            <a:pPr algn="l" indent="0" marL="0">
              <a:lnSpc>
                <a:spcPts val="3400"/>
              </a:lnSpc>
              <a:buNone/>
            </a:pPr>
            <a:r>
              <a:rPr lang="en-US" sz="2100" dirty="0">
                <a:solidFill>
                  <a:srgbClr val="000000"/>
                </a:solidFill>
                <a:latin typeface="Fraunces Medium" pitchFamily="34" charset="0"/>
                <a:ea typeface="Fraunces Medium" pitchFamily="34" charset="-122"/>
                <a:cs typeface="Fraunces Medium" pitchFamily="34" charset="-120"/>
              </a:rPr>
              <a:t>4</a:t>
            </a:r>
            <a:endParaRPr lang="en-US" sz="2100" dirty="0"/>
          </a:p>
        </p:txBody>
      </p:sp>
      <p:sp>
        <p:nvSpPr>
          <p:cNvPr id="25" name="Text 23"/>
          <p:cNvSpPr/>
          <p:nvPr/>
        </p:nvSpPr>
        <p:spPr>
          <a:xfrm>
            <a:off x="1051084" y="6075164"/>
            <a:ext cx="3101697" cy="354330"/>
          </a:xfrm>
          <a:prstGeom prst="rect">
            <a:avLst/>
          </a:prstGeom>
          <a:noFill/>
          <a:ln/>
        </p:spPr>
        <p:txBody>
          <a:bodyPr wrap="none" lIns="0" tIns="0" rIns="0" bIns="0" rtlCol="0" anchor="t"/>
          <a:lstStyle/>
          <a:p>
            <a:pPr algn="l" indent="0" marL="0">
              <a:lnSpc>
                <a:spcPts val="2750"/>
              </a:lnSpc>
              <a:buNone/>
            </a:pPr>
            <a:r>
              <a:rPr lang="en-US" sz="2200" dirty="0">
                <a:solidFill>
                  <a:srgbClr val="EBECEF"/>
                </a:solidFill>
                <a:latin typeface="Fraunces Medium" pitchFamily="34" charset="0"/>
                <a:ea typeface="Fraunces Medium" pitchFamily="34" charset="-122"/>
                <a:cs typeface="Fraunces Medium" pitchFamily="34" charset="-120"/>
              </a:rPr>
              <a:t>Challenges &amp; Solutions</a:t>
            </a:r>
            <a:endParaRPr lang="en-US" sz="2200" dirty="0"/>
          </a:p>
        </p:txBody>
      </p:sp>
      <p:sp>
        <p:nvSpPr>
          <p:cNvPr id="26" name="Text 24"/>
          <p:cNvSpPr/>
          <p:nvPr/>
        </p:nvSpPr>
        <p:spPr>
          <a:xfrm>
            <a:off x="1051084" y="6565583"/>
            <a:ext cx="5893356" cy="725805"/>
          </a:xfrm>
          <a:prstGeom prst="rect">
            <a:avLst/>
          </a:prstGeom>
          <a:noFill/>
          <a:ln/>
        </p:spPr>
        <p:txBody>
          <a:bodyPr wrap="square" lIns="0" tIns="0" rIns="0" bIns="0" rtlCol="0" anchor="t"/>
          <a:lstStyle/>
          <a:p>
            <a:pPr algn="l" indent="0" marL="0">
              <a:lnSpc>
                <a:spcPts val="2850"/>
              </a:lnSpc>
              <a:buNone/>
            </a:pPr>
            <a:r>
              <a:rPr lang="en-US" sz="1750" dirty="0">
                <a:solidFill>
                  <a:srgbClr val="EBECEF"/>
                </a:solidFill>
                <a:latin typeface="Epilogue" pitchFamily="34" charset="0"/>
                <a:ea typeface="Epilogue" pitchFamily="34" charset="-122"/>
                <a:cs typeface="Epilogue" pitchFamily="34" charset="-120"/>
              </a:rPr>
              <a:t>Technical obstacles encountered and how we overcame them</a:t>
            </a:r>
            <a:endParaRPr lang="en-US" sz="1750" dirty="0"/>
          </a:p>
        </p:txBody>
      </p:sp>
      <p:sp>
        <p:nvSpPr>
          <p:cNvPr id="27" name="Shape 25"/>
          <p:cNvSpPr/>
          <p:nvPr/>
        </p:nvSpPr>
        <p:spPr>
          <a:xfrm>
            <a:off x="7428548" y="5508188"/>
            <a:ext cx="6407944" cy="2040493"/>
          </a:xfrm>
          <a:prstGeom prst="roundRect">
            <a:avLst>
              <a:gd name="adj" fmla="val 7170"/>
            </a:avLst>
          </a:prstGeom>
          <a:solidFill>
            <a:srgbClr val="080E26"/>
          </a:solidFill>
          <a:ln/>
        </p:spPr>
      </p:sp>
      <p:sp>
        <p:nvSpPr>
          <p:cNvPr id="28" name="Shape 26"/>
          <p:cNvSpPr/>
          <p:nvPr/>
        </p:nvSpPr>
        <p:spPr>
          <a:xfrm>
            <a:off x="7428548" y="5477708"/>
            <a:ext cx="6407944" cy="121920"/>
          </a:xfrm>
          <a:prstGeom prst="roundRect">
            <a:avLst>
              <a:gd name="adj" fmla="val 78139"/>
            </a:avLst>
          </a:prstGeom>
          <a:solidFill>
            <a:srgbClr val="8C98CA"/>
          </a:solidFill>
          <a:ln/>
        </p:spPr>
      </p:sp>
      <p:sp>
        <p:nvSpPr>
          <p:cNvPr id="29" name="Shape 27"/>
          <p:cNvSpPr/>
          <p:nvPr/>
        </p:nvSpPr>
        <p:spPr>
          <a:xfrm>
            <a:off x="10292298" y="5168027"/>
            <a:ext cx="680442" cy="680442"/>
          </a:xfrm>
          <a:prstGeom prst="roundRect">
            <a:avLst>
              <a:gd name="adj" fmla="val 134383"/>
            </a:avLst>
          </a:prstGeom>
          <a:solidFill>
            <a:srgbClr val="8C98CA"/>
          </a:solidFill>
          <a:ln/>
        </p:spPr>
      </p:sp>
      <p:sp>
        <p:nvSpPr>
          <p:cNvPr id="30" name="Text 28"/>
          <p:cNvSpPr/>
          <p:nvPr/>
        </p:nvSpPr>
        <p:spPr>
          <a:xfrm>
            <a:off x="10496371" y="5338167"/>
            <a:ext cx="272177" cy="340162"/>
          </a:xfrm>
          <a:prstGeom prst="rect">
            <a:avLst/>
          </a:prstGeom>
          <a:noFill/>
          <a:ln/>
        </p:spPr>
        <p:txBody>
          <a:bodyPr wrap="none" lIns="0" tIns="0" rIns="0" bIns="0" rtlCol="0" anchor="t"/>
          <a:lstStyle/>
          <a:p>
            <a:pPr algn="l" indent="0" marL="0">
              <a:lnSpc>
                <a:spcPts val="3400"/>
              </a:lnSpc>
              <a:buNone/>
            </a:pPr>
            <a:r>
              <a:rPr lang="en-US" sz="2100" dirty="0">
                <a:solidFill>
                  <a:srgbClr val="000000"/>
                </a:solidFill>
                <a:latin typeface="Fraunces Medium" pitchFamily="34" charset="0"/>
                <a:ea typeface="Fraunces Medium" pitchFamily="34" charset="-122"/>
                <a:cs typeface="Fraunces Medium" pitchFamily="34" charset="-120"/>
              </a:rPr>
              <a:t>5</a:t>
            </a:r>
            <a:endParaRPr lang="en-US" sz="2100" dirty="0"/>
          </a:p>
        </p:txBody>
      </p:sp>
      <p:sp>
        <p:nvSpPr>
          <p:cNvPr id="31" name="Text 29"/>
          <p:cNvSpPr/>
          <p:nvPr/>
        </p:nvSpPr>
        <p:spPr>
          <a:xfrm>
            <a:off x="7685842" y="6075164"/>
            <a:ext cx="3580448" cy="354330"/>
          </a:xfrm>
          <a:prstGeom prst="rect">
            <a:avLst/>
          </a:prstGeom>
          <a:noFill/>
          <a:ln/>
        </p:spPr>
        <p:txBody>
          <a:bodyPr wrap="none" lIns="0" tIns="0" rIns="0" bIns="0" rtlCol="0" anchor="t"/>
          <a:lstStyle/>
          <a:p>
            <a:pPr algn="l" indent="0" marL="0">
              <a:lnSpc>
                <a:spcPts val="2750"/>
              </a:lnSpc>
              <a:buNone/>
            </a:pPr>
            <a:r>
              <a:rPr lang="en-US" sz="2200" dirty="0">
                <a:solidFill>
                  <a:srgbClr val="EBECEF"/>
                </a:solidFill>
                <a:latin typeface="Fraunces Medium" pitchFamily="34" charset="0"/>
                <a:ea typeface="Fraunces Medium" pitchFamily="34" charset="-122"/>
                <a:cs typeface="Fraunces Medium" pitchFamily="34" charset="-120"/>
              </a:rPr>
              <a:t>Conclusion &amp; Future Work</a:t>
            </a:r>
            <a:endParaRPr lang="en-US" sz="2200" dirty="0"/>
          </a:p>
        </p:txBody>
      </p:sp>
      <p:sp>
        <p:nvSpPr>
          <p:cNvPr id="32" name="Text 30"/>
          <p:cNvSpPr/>
          <p:nvPr/>
        </p:nvSpPr>
        <p:spPr>
          <a:xfrm>
            <a:off x="7685842" y="6565583"/>
            <a:ext cx="5893356" cy="725805"/>
          </a:xfrm>
          <a:prstGeom prst="rect">
            <a:avLst/>
          </a:prstGeom>
          <a:noFill/>
          <a:ln/>
        </p:spPr>
        <p:txBody>
          <a:bodyPr wrap="square" lIns="0" tIns="0" rIns="0" bIns="0" rtlCol="0" anchor="t"/>
          <a:lstStyle/>
          <a:p>
            <a:pPr algn="l" indent="0" marL="0">
              <a:lnSpc>
                <a:spcPts val="2850"/>
              </a:lnSpc>
              <a:buNone/>
            </a:pPr>
            <a:r>
              <a:rPr lang="en-US" sz="1750" dirty="0">
                <a:solidFill>
                  <a:srgbClr val="EBECEF"/>
                </a:solidFill>
                <a:latin typeface="Epilogue" pitchFamily="34" charset="0"/>
                <a:ea typeface="Epilogue" pitchFamily="34" charset="-122"/>
                <a:cs typeface="Epilogue" pitchFamily="34" charset="-120"/>
              </a:rPr>
              <a:t>Project outcomes and opportunities for further research</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665440" y="1140857"/>
            <a:ext cx="7331512" cy="594122"/>
          </a:xfrm>
          <a:prstGeom prst="rect">
            <a:avLst/>
          </a:prstGeom>
          <a:noFill/>
          <a:ln/>
        </p:spPr>
        <p:txBody>
          <a:bodyPr wrap="none" lIns="0" tIns="0" rIns="0" bIns="0" rtlCol="0" anchor="t"/>
          <a:lstStyle/>
          <a:p>
            <a:pPr algn="l" indent="0" marL="0">
              <a:lnSpc>
                <a:spcPts val="4650"/>
              </a:lnSpc>
              <a:buNone/>
            </a:pPr>
            <a:r>
              <a:rPr lang="en-US" sz="3700" dirty="0">
                <a:solidFill>
                  <a:srgbClr val="FFFFFF"/>
                </a:solidFill>
                <a:latin typeface="Fraunces Medium" pitchFamily="34" charset="0"/>
                <a:ea typeface="Fraunces Medium" pitchFamily="34" charset="-122"/>
                <a:cs typeface="Fraunces Medium" pitchFamily="34" charset="-120"/>
              </a:rPr>
              <a:t>Problem Statement &amp; Objectives</a:t>
            </a:r>
            <a:endParaRPr lang="en-US" sz="3700" dirty="0"/>
          </a:p>
        </p:txBody>
      </p:sp>
      <p:sp>
        <p:nvSpPr>
          <p:cNvPr id="4" name="Text 1"/>
          <p:cNvSpPr/>
          <p:nvPr/>
        </p:nvSpPr>
        <p:spPr>
          <a:xfrm>
            <a:off x="665440" y="2210157"/>
            <a:ext cx="2376607" cy="297061"/>
          </a:xfrm>
          <a:prstGeom prst="rect">
            <a:avLst/>
          </a:prstGeom>
          <a:noFill/>
          <a:ln/>
        </p:spPr>
        <p:txBody>
          <a:bodyPr wrap="none" lIns="0" tIns="0" rIns="0" bIns="0" rtlCol="0" anchor="t"/>
          <a:lstStyle/>
          <a:p>
            <a:pPr algn="l" indent="0" marL="0">
              <a:lnSpc>
                <a:spcPts val="2300"/>
              </a:lnSpc>
              <a:buNone/>
            </a:pPr>
            <a:r>
              <a:rPr lang="en-US" sz="1850" dirty="0">
                <a:solidFill>
                  <a:srgbClr val="FFFFFF"/>
                </a:solidFill>
                <a:latin typeface="Fraunces Medium" pitchFamily="34" charset="0"/>
                <a:ea typeface="Fraunces Medium" pitchFamily="34" charset="-122"/>
                <a:cs typeface="Fraunces Medium" pitchFamily="34" charset="-120"/>
              </a:rPr>
              <a:t>The Challenge</a:t>
            </a:r>
            <a:endParaRPr lang="en-US" sz="1850" dirty="0"/>
          </a:p>
        </p:txBody>
      </p:sp>
      <p:sp>
        <p:nvSpPr>
          <p:cNvPr id="5" name="Text 2"/>
          <p:cNvSpPr/>
          <p:nvPr/>
        </p:nvSpPr>
        <p:spPr>
          <a:xfrm>
            <a:off x="665440" y="2697242"/>
            <a:ext cx="3674626" cy="1521023"/>
          </a:xfrm>
          <a:prstGeom prst="rect">
            <a:avLst/>
          </a:prstGeom>
          <a:noFill/>
          <a:ln/>
        </p:spPr>
        <p:txBody>
          <a:bodyPr wrap="square" lIns="0" tIns="0" rIns="0" bIns="0" rtlCol="0" anchor="t"/>
          <a:lstStyle/>
          <a:p>
            <a:pPr algn="l" indent="0" marL="0">
              <a:lnSpc>
                <a:spcPts val="2350"/>
              </a:lnSpc>
              <a:buNone/>
            </a:pPr>
            <a:r>
              <a:rPr lang="en-US" sz="1450" dirty="0">
                <a:solidFill>
                  <a:srgbClr val="EBECEF"/>
                </a:solidFill>
                <a:latin typeface="Epilogue" pitchFamily="34" charset="0"/>
                <a:ea typeface="Epilogue" pitchFamily="34" charset="-122"/>
                <a:cs typeface="Epilogue" pitchFamily="34" charset="-120"/>
              </a:rPr>
              <a:t>Heart disease remains the leading cause of death globally, with approximately 17.9 million lives lost annually. Early detection is critical yet challenging due to:</a:t>
            </a:r>
            <a:endParaRPr lang="en-US" sz="1450" dirty="0"/>
          </a:p>
        </p:txBody>
      </p:sp>
      <p:sp>
        <p:nvSpPr>
          <p:cNvPr id="6" name="Text 3"/>
          <p:cNvSpPr/>
          <p:nvPr/>
        </p:nvSpPr>
        <p:spPr>
          <a:xfrm>
            <a:off x="665440" y="4389358"/>
            <a:ext cx="3674626" cy="608409"/>
          </a:xfrm>
          <a:prstGeom prst="rect">
            <a:avLst/>
          </a:prstGeom>
          <a:noFill/>
          <a:ln/>
        </p:spPr>
        <p:txBody>
          <a:bodyPr wrap="square" lIns="0" tIns="0" rIns="0" bIns="0" rtlCol="0" anchor="t"/>
          <a:lstStyle/>
          <a:p>
            <a:pPr algn="l" marL="342900" indent="-342900">
              <a:lnSpc>
                <a:spcPts val="2350"/>
              </a:lnSpc>
              <a:buSzPct val="100000"/>
              <a:buChar char="•"/>
            </a:pPr>
            <a:r>
              <a:rPr lang="en-US" sz="1450" dirty="0">
                <a:solidFill>
                  <a:srgbClr val="EBECEF"/>
                </a:solidFill>
                <a:latin typeface="Epilogue" pitchFamily="34" charset="0"/>
                <a:ea typeface="Epilogue" pitchFamily="34" charset="-122"/>
                <a:cs typeface="Epilogue" pitchFamily="34" charset="-120"/>
              </a:rPr>
              <a:t>Heart-related conditions are increasing rapidly around the world</a:t>
            </a:r>
            <a:endParaRPr lang="en-US" sz="1450" dirty="0"/>
          </a:p>
        </p:txBody>
      </p:sp>
      <p:sp>
        <p:nvSpPr>
          <p:cNvPr id="7" name="Text 4"/>
          <p:cNvSpPr/>
          <p:nvPr/>
        </p:nvSpPr>
        <p:spPr>
          <a:xfrm>
            <a:off x="665440" y="5064204"/>
            <a:ext cx="3674626" cy="608409"/>
          </a:xfrm>
          <a:prstGeom prst="rect">
            <a:avLst/>
          </a:prstGeom>
          <a:noFill/>
          <a:ln/>
        </p:spPr>
        <p:txBody>
          <a:bodyPr wrap="square" lIns="0" tIns="0" rIns="0" bIns="0" rtlCol="0" anchor="t"/>
          <a:lstStyle/>
          <a:p>
            <a:pPr algn="l" marL="342900" indent="-342900">
              <a:lnSpc>
                <a:spcPts val="2350"/>
              </a:lnSpc>
              <a:buSzPct val="100000"/>
              <a:buChar char="•"/>
            </a:pPr>
            <a:r>
              <a:rPr lang="en-US" sz="1450" dirty="0">
                <a:solidFill>
                  <a:srgbClr val="EBECEF"/>
                </a:solidFill>
                <a:latin typeface="Epilogue" pitchFamily="34" charset="0"/>
                <a:ea typeface="Epilogue" pitchFamily="34" charset="-122"/>
                <a:cs typeface="Epilogue" pitchFamily="34" charset="-120"/>
              </a:rPr>
              <a:t>Diagnosing heart disease manually takes a lot of time and effort</a:t>
            </a:r>
            <a:endParaRPr lang="en-US" sz="1450" dirty="0"/>
          </a:p>
        </p:txBody>
      </p:sp>
      <p:sp>
        <p:nvSpPr>
          <p:cNvPr id="8" name="Text 5"/>
          <p:cNvSpPr/>
          <p:nvPr/>
        </p:nvSpPr>
        <p:spPr>
          <a:xfrm>
            <a:off x="665440" y="5739051"/>
            <a:ext cx="3674626" cy="608409"/>
          </a:xfrm>
          <a:prstGeom prst="rect">
            <a:avLst/>
          </a:prstGeom>
          <a:noFill/>
          <a:ln/>
        </p:spPr>
        <p:txBody>
          <a:bodyPr wrap="square" lIns="0" tIns="0" rIns="0" bIns="0" rtlCol="0" anchor="t"/>
          <a:lstStyle/>
          <a:p>
            <a:pPr algn="l" marL="342900" indent="-342900">
              <a:lnSpc>
                <a:spcPts val="2350"/>
              </a:lnSpc>
              <a:buSzPct val="100000"/>
              <a:buChar char="•"/>
            </a:pPr>
            <a:r>
              <a:rPr lang="en-US" sz="1450" dirty="0">
                <a:solidFill>
                  <a:srgbClr val="EBECEF"/>
                </a:solidFill>
                <a:latin typeface="Epilogue" pitchFamily="34" charset="0"/>
                <a:ea typeface="Epilogue" pitchFamily="34" charset="-122"/>
                <a:cs typeface="Epilogue" pitchFamily="34" charset="-120"/>
              </a:rPr>
              <a:t>Errors in diagnosis can lead to life-threatening outcomes</a:t>
            </a:r>
            <a:endParaRPr lang="en-US" sz="1450" dirty="0"/>
          </a:p>
        </p:txBody>
      </p:sp>
      <p:sp>
        <p:nvSpPr>
          <p:cNvPr id="9" name="Text 6"/>
          <p:cNvSpPr/>
          <p:nvPr/>
        </p:nvSpPr>
        <p:spPr>
          <a:xfrm>
            <a:off x="665440" y="6413897"/>
            <a:ext cx="3674626" cy="608409"/>
          </a:xfrm>
          <a:prstGeom prst="rect">
            <a:avLst/>
          </a:prstGeom>
          <a:noFill/>
          <a:ln/>
        </p:spPr>
        <p:txBody>
          <a:bodyPr wrap="square" lIns="0" tIns="0" rIns="0" bIns="0" rtlCol="0" anchor="t"/>
          <a:lstStyle/>
          <a:p>
            <a:pPr algn="l" marL="342900" indent="-342900">
              <a:lnSpc>
                <a:spcPts val="2350"/>
              </a:lnSpc>
              <a:buSzPct val="100000"/>
              <a:buChar char="•"/>
            </a:pPr>
            <a:r>
              <a:rPr lang="en-US" sz="1450" dirty="0">
                <a:solidFill>
                  <a:srgbClr val="EBECEF"/>
                </a:solidFill>
                <a:latin typeface="Epilogue" pitchFamily="34" charset="0"/>
                <a:ea typeface="Epilogue" pitchFamily="34" charset="-122"/>
                <a:cs typeface="Epilogue" pitchFamily="34" charset="-120"/>
              </a:rPr>
              <a:t>Many important patterns in patient data are not being used properly</a:t>
            </a:r>
            <a:endParaRPr lang="en-US" sz="1450" dirty="0"/>
          </a:p>
        </p:txBody>
      </p:sp>
      <p:sp>
        <p:nvSpPr>
          <p:cNvPr id="10" name="Text 7"/>
          <p:cNvSpPr/>
          <p:nvPr/>
        </p:nvSpPr>
        <p:spPr>
          <a:xfrm>
            <a:off x="4811554" y="2210157"/>
            <a:ext cx="2376607" cy="297061"/>
          </a:xfrm>
          <a:prstGeom prst="rect">
            <a:avLst/>
          </a:prstGeom>
          <a:noFill/>
          <a:ln/>
        </p:spPr>
        <p:txBody>
          <a:bodyPr wrap="none" lIns="0" tIns="0" rIns="0" bIns="0" rtlCol="0" anchor="t"/>
          <a:lstStyle/>
          <a:p>
            <a:pPr algn="l" indent="0" marL="0">
              <a:lnSpc>
                <a:spcPts val="2300"/>
              </a:lnSpc>
              <a:buNone/>
            </a:pPr>
            <a:r>
              <a:rPr lang="en-US" sz="1850" dirty="0">
                <a:solidFill>
                  <a:srgbClr val="FFFFFF"/>
                </a:solidFill>
                <a:latin typeface="Fraunces Medium" pitchFamily="34" charset="0"/>
                <a:ea typeface="Fraunces Medium" pitchFamily="34" charset="-122"/>
                <a:cs typeface="Fraunces Medium" pitchFamily="34" charset="-120"/>
              </a:rPr>
              <a:t>Project Objectives</a:t>
            </a:r>
            <a:endParaRPr lang="en-US" sz="1850" dirty="0"/>
          </a:p>
        </p:txBody>
      </p:sp>
      <p:sp>
        <p:nvSpPr>
          <p:cNvPr id="11" name="Text 8"/>
          <p:cNvSpPr/>
          <p:nvPr/>
        </p:nvSpPr>
        <p:spPr>
          <a:xfrm>
            <a:off x="4811554" y="2697242"/>
            <a:ext cx="3674626" cy="608409"/>
          </a:xfrm>
          <a:prstGeom prst="rect">
            <a:avLst/>
          </a:prstGeom>
          <a:noFill/>
          <a:ln/>
        </p:spPr>
        <p:txBody>
          <a:bodyPr wrap="square" lIns="0" tIns="0" rIns="0" bIns="0" rtlCol="0" anchor="t"/>
          <a:lstStyle/>
          <a:p>
            <a:pPr algn="l" marL="342900" indent="-342900">
              <a:lnSpc>
                <a:spcPts val="2350"/>
              </a:lnSpc>
              <a:buSzPct val="100000"/>
              <a:buChar char="•"/>
            </a:pPr>
            <a:r>
              <a:rPr lang="en-US" sz="1450" dirty="0">
                <a:solidFill>
                  <a:srgbClr val="EBECEF"/>
                </a:solidFill>
                <a:latin typeface="Epilogue" pitchFamily="34" charset="0"/>
                <a:ea typeface="Epilogue" pitchFamily="34" charset="-122"/>
                <a:cs typeface="Epilogue" pitchFamily="34" charset="-120"/>
              </a:rPr>
              <a:t>Develop a model to predict heart disease using patient data</a:t>
            </a:r>
            <a:endParaRPr lang="en-US" sz="1450" dirty="0"/>
          </a:p>
        </p:txBody>
      </p:sp>
      <p:sp>
        <p:nvSpPr>
          <p:cNvPr id="12" name="Text 9"/>
          <p:cNvSpPr/>
          <p:nvPr/>
        </p:nvSpPr>
        <p:spPr>
          <a:xfrm>
            <a:off x="4811554" y="3372088"/>
            <a:ext cx="3674626" cy="608409"/>
          </a:xfrm>
          <a:prstGeom prst="rect">
            <a:avLst/>
          </a:prstGeom>
          <a:noFill/>
          <a:ln/>
        </p:spPr>
        <p:txBody>
          <a:bodyPr wrap="square" lIns="0" tIns="0" rIns="0" bIns="0" rtlCol="0" anchor="t"/>
          <a:lstStyle/>
          <a:p>
            <a:pPr algn="l" marL="342900" indent="-342900">
              <a:lnSpc>
                <a:spcPts val="2350"/>
              </a:lnSpc>
              <a:buSzPct val="100000"/>
              <a:buChar char="•"/>
            </a:pPr>
            <a:r>
              <a:rPr lang="en-US" sz="1450" dirty="0">
                <a:solidFill>
                  <a:srgbClr val="EBECEF"/>
                </a:solidFill>
                <a:latin typeface="Epilogue" pitchFamily="34" charset="0"/>
                <a:ea typeface="Epilogue" pitchFamily="34" charset="-122"/>
                <a:cs typeface="Epilogue" pitchFamily="34" charset="-120"/>
              </a:rPr>
              <a:t>Identify key predictive features from patient data</a:t>
            </a:r>
            <a:endParaRPr lang="en-US" sz="1450" dirty="0"/>
          </a:p>
        </p:txBody>
      </p:sp>
      <p:sp>
        <p:nvSpPr>
          <p:cNvPr id="13" name="Text 10"/>
          <p:cNvSpPr/>
          <p:nvPr/>
        </p:nvSpPr>
        <p:spPr>
          <a:xfrm>
            <a:off x="4811554" y="4046934"/>
            <a:ext cx="3674626" cy="608409"/>
          </a:xfrm>
          <a:prstGeom prst="rect">
            <a:avLst/>
          </a:prstGeom>
          <a:noFill/>
          <a:ln/>
        </p:spPr>
        <p:txBody>
          <a:bodyPr wrap="square" lIns="0" tIns="0" rIns="0" bIns="0" rtlCol="0" anchor="t"/>
          <a:lstStyle/>
          <a:p>
            <a:pPr algn="l" marL="342900" indent="-342900">
              <a:lnSpc>
                <a:spcPts val="2350"/>
              </a:lnSpc>
              <a:buSzPct val="100000"/>
              <a:buChar char="•"/>
            </a:pPr>
            <a:r>
              <a:rPr lang="en-US" sz="1450" dirty="0">
                <a:solidFill>
                  <a:srgbClr val="EBECEF"/>
                </a:solidFill>
                <a:latin typeface="Epilogue" pitchFamily="34" charset="0"/>
                <a:ea typeface="Epilogue" pitchFamily="34" charset="-122"/>
                <a:cs typeface="Epilogue" pitchFamily="34" charset="-120"/>
              </a:rPr>
              <a:t>Apply both Machine Learning and Deep Learning </a:t>
            </a:r>
            <a:endParaRPr lang="en-US" sz="1450" dirty="0"/>
          </a:p>
        </p:txBody>
      </p:sp>
      <p:sp>
        <p:nvSpPr>
          <p:cNvPr id="14" name="Text 11"/>
          <p:cNvSpPr/>
          <p:nvPr/>
        </p:nvSpPr>
        <p:spPr>
          <a:xfrm>
            <a:off x="4811554" y="4721781"/>
            <a:ext cx="3674626" cy="608409"/>
          </a:xfrm>
          <a:prstGeom prst="rect">
            <a:avLst/>
          </a:prstGeom>
          <a:noFill/>
          <a:ln/>
        </p:spPr>
        <p:txBody>
          <a:bodyPr wrap="square" lIns="0" tIns="0" rIns="0" bIns="0" rtlCol="0" anchor="t"/>
          <a:lstStyle/>
          <a:p>
            <a:pPr algn="l" marL="342900" indent="-342900">
              <a:lnSpc>
                <a:spcPts val="2350"/>
              </a:lnSpc>
              <a:buSzPct val="100000"/>
              <a:buChar char="•"/>
            </a:pPr>
            <a:r>
              <a:rPr lang="en-US" sz="1450" dirty="0">
                <a:solidFill>
                  <a:srgbClr val="EBECEF"/>
                </a:solidFill>
                <a:latin typeface="Epilogue" pitchFamily="34" charset="0"/>
                <a:ea typeface="Epilogue" pitchFamily="34" charset="-122"/>
                <a:cs typeface="Epilogue" pitchFamily="34" charset="-120"/>
              </a:rPr>
              <a:t>Deploy the best-performing model using Streamlit</a:t>
            </a:r>
            <a:endParaRPr lang="en-US" sz="1450" dirty="0"/>
          </a:p>
        </p:txBody>
      </p:sp>
      <p:sp>
        <p:nvSpPr>
          <p:cNvPr id="15" name="Text 12"/>
          <p:cNvSpPr/>
          <p:nvPr/>
        </p:nvSpPr>
        <p:spPr>
          <a:xfrm>
            <a:off x="4811554" y="5396627"/>
            <a:ext cx="3674626" cy="608409"/>
          </a:xfrm>
          <a:prstGeom prst="rect">
            <a:avLst/>
          </a:prstGeom>
          <a:noFill/>
          <a:ln/>
        </p:spPr>
        <p:txBody>
          <a:bodyPr wrap="square" lIns="0" tIns="0" rIns="0" bIns="0" rtlCol="0" anchor="t"/>
          <a:lstStyle/>
          <a:p>
            <a:pPr algn="l" marL="342900" indent="-342900">
              <a:lnSpc>
                <a:spcPts val="2350"/>
              </a:lnSpc>
              <a:buSzPct val="100000"/>
              <a:buChar char="•"/>
            </a:pPr>
            <a:r>
              <a:rPr lang="en-US" sz="1450" dirty="0">
                <a:solidFill>
                  <a:srgbClr val="EBECEF"/>
                </a:solidFill>
                <a:latin typeface="Epilogue" pitchFamily="34" charset="0"/>
                <a:ea typeface="Epilogue" pitchFamily="34" charset="-122"/>
                <a:cs typeface="Epilogue" pitchFamily="34" charset="-120"/>
              </a:rPr>
              <a:t>Ensure high model interpretability for clinical usability</a:t>
            </a:r>
            <a:endParaRPr lang="en-US" sz="1450" dirty="0"/>
          </a:p>
        </p:txBody>
      </p:sp>
      <p:sp>
        <p:nvSpPr>
          <p:cNvPr id="16" name="Text 13"/>
          <p:cNvSpPr/>
          <p:nvPr/>
        </p:nvSpPr>
        <p:spPr>
          <a:xfrm>
            <a:off x="4811554" y="6071473"/>
            <a:ext cx="3674626" cy="912614"/>
          </a:xfrm>
          <a:prstGeom prst="rect">
            <a:avLst/>
          </a:prstGeom>
          <a:noFill/>
          <a:ln/>
        </p:spPr>
        <p:txBody>
          <a:bodyPr wrap="square" lIns="0" tIns="0" rIns="0" bIns="0" rtlCol="0" anchor="t"/>
          <a:lstStyle/>
          <a:p>
            <a:pPr algn="l" marL="342900" indent="-342900">
              <a:lnSpc>
                <a:spcPts val="2350"/>
              </a:lnSpc>
              <a:buSzPct val="100000"/>
              <a:buChar char="•"/>
            </a:pPr>
            <a:r>
              <a:rPr lang="en-US" sz="1450" dirty="0">
                <a:solidFill>
                  <a:srgbClr val="EBECEF"/>
                </a:solidFill>
                <a:latin typeface="Epilogue" pitchFamily="34" charset="0"/>
                <a:ea typeface="Epilogue" pitchFamily="34" charset="-122"/>
                <a:cs typeface="Epilogue" pitchFamily="34" charset="-120"/>
              </a:rPr>
              <a:t>Create a reusable and scalable pipeline for similar medical problems</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06398" y="718066"/>
            <a:ext cx="6793706" cy="630674"/>
          </a:xfrm>
          <a:prstGeom prst="rect">
            <a:avLst/>
          </a:prstGeom>
          <a:noFill/>
          <a:ln/>
        </p:spPr>
        <p:txBody>
          <a:bodyPr wrap="none" lIns="0" tIns="0" rIns="0" bIns="0" rtlCol="0" anchor="t"/>
          <a:lstStyle/>
          <a:p>
            <a:pPr algn="l" indent="0" marL="0">
              <a:lnSpc>
                <a:spcPts val="4950"/>
              </a:lnSpc>
              <a:buNone/>
            </a:pPr>
            <a:r>
              <a:rPr lang="en-US" sz="3950" dirty="0">
                <a:solidFill>
                  <a:srgbClr val="FFFFFF"/>
                </a:solidFill>
                <a:latin typeface="Fraunces Medium" pitchFamily="34" charset="0"/>
                <a:ea typeface="Fraunces Medium" pitchFamily="34" charset="-122"/>
                <a:cs typeface="Fraunces Medium" pitchFamily="34" charset="-120"/>
              </a:rPr>
              <a:t>Data Preprocessing Pipeline</a:t>
            </a:r>
            <a:endParaRPr lang="en-US" sz="3950" dirty="0"/>
          </a:p>
        </p:txBody>
      </p:sp>
      <p:pic>
        <p:nvPicPr>
          <p:cNvPr id="3" name="Image 0" descr="preencoded.png">    </p:cNvPr>
          <p:cNvPicPr>
            <a:picLocks noChangeAspect="1"/>
          </p:cNvPicPr>
          <p:nvPr/>
        </p:nvPicPr>
        <p:blipFill>
          <a:blip r:embed="rId1"/>
          <a:stretch>
            <a:fillRect/>
          </a:stretch>
        </p:blipFill>
        <p:spPr>
          <a:xfrm>
            <a:off x="706398" y="1752362"/>
            <a:ext cx="4405789" cy="807244"/>
          </a:xfrm>
          <a:prstGeom prst="rect">
            <a:avLst/>
          </a:prstGeom>
        </p:spPr>
      </p:pic>
      <p:sp>
        <p:nvSpPr>
          <p:cNvPr id="4" name="Text 1"/>
          <p:cNvSpPr/>
          <p:nvPr/>
        </p:nvSpPr>
        <p:spPr>
          <a:xfrm>
            <a:off x="908209" y="2761417"/>
            <a:ext cx="2522934" cy="315278"/>
          </a:xfrm>
          <a:prstGeom prst="rect">
            <a:avLst/>
          </a:prstGeom>
          <a:noFill/>
          <a:ln/>
        </p:spPr>
        <p:txBody>
          <a:bodyPr wrap="none" lIns="0" tIns="0" rIns="0" bIns="0" rtlCol="0" anchor="t"/>
          <a:lstStyle/>
          <a:p>
            <a:pPr algn="l" indent="0" marL="0">
              <a:lnSpc>
                <a:spcPts val="2450"/>
              </a:lnSpc>
              <a:buNone/>
            </a:pPr>
            <a:r>
              <a:rPr lang="en-US" sz="1950" dirty="0">
                <a:solidFill>
                  <a:srgbClr val="EBECEF"/>
                </a:solidFill>
                <a:latin typeface="Fraunces Medium" pitchFamily="34" charset="0"/>
                <a:ea typeface="Fraunces Medium" pitchFamily="34" charset="-122"/>
                <a:cs typeface="Fraunces Medium" pitchFamily="34" charset="-120"/>
              </a:rPr>
              <a:t>Data Collection</a:t>
            </a:r>
            <a:endParaRPr lang="en-US" sz="1950" dirty="0"/>
          </a:p>
        </p:txBody>
      </p:sp>
      <p:sp>
        <p:nvSpPr>
          <p:cNvPr id="5" name="Text 2"/>
          <p:cNvSpPr/>
          <p:nvPr/>
        </p:nvSpPr>
        <p:spPr>
          <a:xfrm>
            <a:off x="908209" y="3197781"/>
            <a:ext cx="4002167" cy="968693"/>
          </a:xfrm>
          <a:prstGeom prst="rect">
            <a:avLst/>
          </a:prstGeom>
          <a:noFill/>
          <a:ln/>
        </p:spPr>
        <p:txBody>
          <a:bodyPr wrap="square" lIns="0" tIns="0" rIns="0" bIns="0" rtlCol="0" anchor="t"/>
          <a:lstStyle/>
          <a:p>
            <a:pPr algn="l" indent="0" marL="0">
              <a:lnSpc>
                <a:spcPts val="2500"/>
              </a:lnSpc>
              <a:buNone/>
            </a:pPr>
            <a:r>
              <a:rPr lang="en-US" sz="1550" dirty="0">
                <a:solidFill>
                  <a:srgbClr val="EBECEF"/>
                </a:solidFill>
                <a:latin typeface="Epilogue" pitchFamily="34" charset="0"/>
                <a:ea typeface="Epilogue" pitchFamily="34" charset="-122"/>
                <a:cs typeface="Epilogue" pitchFamily="34" charset="-120"/>
              </a:rPr>
              <a:t>Utilized Cleveland Heart Disease dataset from UCI repository, containing 300 patients and 14 attributes including:</a:t>
            </a:r>
            <a:endParaRPr lang="en-US" sz="1550" dirty="0"/>
          </a:p>
        </p:txBody>
      </p:sp>
      <p:sp>
        <p:nvSpPr>
          <p:cNvPr id="6" name="Text 3"/>
          <p:cNvSpPr/>
          <p:nvPr/>
        </p:nvSpPr>
        <p:spPr>
          <a:xfrm>
            <a:off x="908209" y="4287560"/>
            <a:ext cx="4002167" cy="322898"/>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EBECEF"/>
                </a:solidFill>
                <a:latin typeface="Epilogue" pitchFamily="34" charset="0"/>
                <a:ea typeface="Epilogue" pitchFamily="34" charset="-122"/>
                <a:cs typeface="Epilogue" pitchFamily="34" charset="-120"/>
              </a:rPr>
              <a:t>Age, sex, chest pain type</a:t>
            </a:r>
            <a:endParaRPr lang="en-US" sz="1550" dirty="0"/>
          </a:p>
        </p:txBody>
      </p:sp>
      <p:sp>
        <p:nvSpPr>
          <p:cNvPr id="7" name="Text 4"/>
          <p:cNvSpPr/>
          <p:nvPr/>
        </p:nvSpPr>
        <p:spPr>
          <a:xfrm>
            <a:off x="908209" y="4681061"/>
            <a:ext cx="4002167" cy="322898"/>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EBECEF"/>
                </a:solidFill>
                <a:latin typeface="Epilogue" pitchFamily="34" charset="0"/>
                <a:ea typeface="Epilogue" pitchFamily="34" charset="-122"/>
                <a:cs typeface="Epilogue" pitchFamily="34" charset="-120"/>
              </a:rPr>
              <a:t>Resting blood pressure</a:t>
            </a:r>
            <a:endParaRPr lang="en-US" sz="1550" dirty="0"/>
          </a:p>
        </p:txBody>
      </p:sp>
      <p:sp>
        <p:nvSpPr>
          <p:cNvPr id="8" name="Text 5"/>
          <p:cNvSpPr/>
          <p:nvPr/>
        </p:nvSpPr>
        <p:spPr>
          <a:xfrm>
            <a:off x="908209" y="5074563"/>
            <a:ext cx="4002167" cy="322898"/>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EBECEF"/>
                </a:solidFill>
                <a:latin typeface="Epilogue" pitchFamily="34" charset="0"/>
                <a:ea typeface="Epilogue" pitchFamily="34" charset="-122"/>
                <a:cs typeface="Epilogue" pitchFamily="34" charset="-120"/>
              </a:rPr>
              <a:t>Cholesterol levels</a:t>
            </a:r>
            <a:endParaRPr lang="en-US" sz="1550" dirty="0"/>
          </a:p>
        </p:txBody>
      </p:sp>
      <p:sp>
        <p:nvSpPr>
          <p:cNvPr id="9" name="Text 6"/>
          <p:cNvSpPr/>
          <p:nvPr/>
        </p:nvSpPr>
        <p:spPr>
          <a:xfrm>
            <a:off x="908209" y="5468064"/>
            <a:ext cx="4002167" cy="322898"/>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EBECEF"/>
                </a:solidFill>
                <a:latin typeface="Epilogue" pitchFamily="34" charset="0"/>
                <a:ea typeface="Epilogue" pitchFamily="34" charset="-122"/>
                <a:cs typeface="Epilogue" pitchFamily="34" charset="-120"/>
              </a:rPr>
              <a:t>ECG results and more</a:t>
            </a:r>
            <a:endParaRPr lang="en-US" sz="1550" dirty="0"/>
          </a:p>
        </p:txBody>
      </p:sp>
      <p:pic>
        <p:nvPicPr>
          <p:cNvPr id="10" name="Image 1" descr="preencoded.png">    </p:cNvPr>
          <p:cNvPicPr>
            <a:picLocks noChangeAspect="1"/>
          </p:cNvPicPr>
          <p:nvPr/>
        </p:nvPicPr>
        <p:blipFill>
          <a:blip r:embed="rId2"/>
          <a:stretch>
            <a:fillRect/>
          </a:stretch>
        </p:blipFill>
        <p:spPr>
          <a:xfrm>
            <a:off x="5112187" y="1752362"/>
            <a:ext cx="4405908" cy="807244"/>
          </a:xfrm>
          <a:prstGeom prst="rect">
            <a:avLst/>
          </a:prstGeom>
        </p:spPr>
      </p:pic>
      <p:sp>
        <p:nvSpPr>
          <p:cNvPr id="11" name="Text 7"/>
          <p:cNvSpPr/>
          <p:nvPr/>
        </p:nvSpPr>
        <p:spPr>
          <a:xfrm>
            <a:off x="5313998" y="2761417"/>
            <a:ext cx="2522934" cy="315278"/>
          </a:xfrm>
          <a:prstGeom prst="rect">
            <a:avLst/>
          </a:prstGeom>
          <a:noFill/>
          <a:ln/>
        </p:spPr>
        <p:txBody>
          <a:bodyPr wrap="none" lIns="0" tIns="0" rIns="0" bIns="0" rtlCol="0" anchor="t"/>
          <a:lstStyle/>
          <a:p>
            <a:pPr algn="l" indent="0" marL="0">
              <a:lnSpc>
                <a:spcPts val="2450"/>
              </a:lnSpc>
              <a:buNone/>
            </a:pPr>
            <a:r>
              <a:rPr lang="en-US" sz="1950" dirty="0">
                <a:solidFill>
                  <a:srgbClr val="EBECEF"/>
                </a:solidFill>
                <a:latin typeface="Fraunces Medium" pitchFamily="34" charset="0"/>
                <a:ea typeface="Fraunces Medium" pitchFamily="34" charset="-122"/>
                <a:cs typeface="Fraunces Medium" pitchFamily="34" charset="-120"/>
              </a:rPr>
              <a:t>Data Cleaning</a:t>
            </a:r>
            <a:endParaRPr lang="en-US" sz="1950" dirty="0"/>
          </a:p>
        </p:txBody>
      </p:sp>
      <p:sp>
        <p:nvSpPr>
          <p:cNvPr id="12" name="Text 8"/>
          <p:cNvSpPr/>
          <p:nvPr/>
        </p:nvSpPr>
        <p:spPr>
          <a:xfrm>
            <a:off x="5313998" y="3197781"/>
            <a:ext cx="4002286" cy="645795"/>
          </a:xfrm>
          <a:prstGeom prst="rect">
            <a:avLst/>
          </a:prstGeom>
          <a:noFill/>
          <a:ln/>
        </p:spPr>
        <p:txBody>
          <a:bodyPr wrap="square" lIns="0" tIns="0" rIns="0" bIns="0" rtlCol="0" anchor="t"/>
          <a:lstStyle/>
          <a:p>
            <a:pPr algn="l" indent="0" marL="0">
              <a:lnSpc>
                <a:spcPts val="2500"/>
              </a:lnSpc>
              <a:buNone/>
            </a:pPr>
            <a:r>
              <a:rPr lang="en-US" sz="1550" dirty="0">
                <a:solidFill>
                  <a:srgbClr val="EBECEF"/>
                </a:solidFill>
                <a:latin typeface="Epilogue" pitchFamily="34" charset="0"/>
                <a:ea typeface="Epilogue" pitchFamily="34" charset="-122"/>
                <a:cs typeface="Epilogue" pitchFamily="34" charset="-120"/>
              </a:rPr>
              <a:t>Applied robust preprocessing techniques:</a:t>
            </a:r>
            <a:endParaRPr lang="en-US" sz="1550" dirty="0"/>
          </a:p>
        </p:txBody>
      </p:sp>
      <p:sp>
        <p:nvSpPr>
          <p:cNvPr id="13" name="Text 9"/>
          <p:cNvSpPr/>
          <p:nvPr/>
        </p:nvSpPr>
        <p:spPr>
          <a:xfrm>
            <a:off x="5313998" y="3964662"/>
            <a:ext cx="4002286" cy="645795"/>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EBECEF"/>
                </a:solidFill>
                <a:latin typeface="Epilogue" pitchFamily="34" charset="0"/>
                <a:ea typeface="Epilogue" pitchFamily="34" charset="-122"/>
                <a:cs typeface="Epilogue" pitchFamily="34" charset="-120"/>
              </a:rPr>
              <a:t>Removed missing values and irrelevant columns</a:t>
            </a:r>
            <a:endParaRPr lang="en-US" sz="1550" dirty="0"/>
          </a:p>
        </p:txBody>
      </p:sp>
      <p:sp>
        <p:nvSpPr>
          <p:cNvPr id="14" name="Text 10"/>
          <p:cNvSpPr/>
          <p:nvPr/>
        </p:nvSpPr>
        <p:spPr>
          <a:xfrm>
            <a:off x="5313998" y="4681061"/>
            <a:ext cx="4002286" cy="645795"/>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EBECEF"/>
                </a:solidFill>
                <a:latin typeface="Epilogue" pitchFamily="34" charset="0"/>
                <a:ea typeface="Epilogue" pitchFamily="34" charset="-122"/>
                <a:cs typeface="Epilogue" pitchFamily="34" charset="-120"/>
              </a:rPr>
              <a:t>Detected and removed outliers using IQR method</a:t>
            </a:r>
            <a:endParaRPr lang="en-US" sz="1550" dirty="0"/>
          </a:p>
        </p:txBody>
      </p:sp>
      <p:sp>
        <p:nvSpPr>
          <p:cNvPr id="15" name="Text 11"/>
          <p:cNvSpPr/>
          <p:nvPr/>
        </p:nvSpPr>
        <p:spPr>
          <a:xfrm>
            <a:off x="5313998" y="5397460"/>
            <a:ext cx="4002286" cy="645795"/>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EBECEF"/>
                </a:solidFill>
                <a:latin typeface="Epilogue" pitchFamily="34" charset="0"/>
                <a:ea typeface="Epilogue" pitchFamily="34" charset="-122"/>
                <a:cs typeface="Epilogue" pitchFamily="34" charset="-120"/>
              </a:rPr>
              <a:t>Scaled features using </a:t>
            </a:r>
            <a:pPr algn="l" indent="0" marL="0">
              <a:lnSpc>
                <a:spcPts val="2500"/>
              </a:lnSpc>
              <a:buNone/>
            </a:pPr>
            <a:r>
              <a:rPr lang="en-US" sz="1550" b="1" dirty="0">
                <a:solidFill>
                  <a:srgbClr val="EBECEF"/>
                </a:solidFill>
                <a:latin typeface="Epilogue" pitchFamily="34" charset="0"/>
                <a:ea typeface="Epilogue" pitchFamily="34" charset="-122"/>
                <a:cs typeface="Epilogue" pitchFamily="34" charset="-120"/>
              </a:rPr>
              <a:t>StandardScaler</a:t>
            </a:r>
            <a:endParaRPr lang="en-US" sz="1550" dirty="0"/>
          </a:p>
        </p:txBody>
      </p:sp>
      <p:sp>
        <p:nvSpPr>
          <p:cNvPr id="16" name="Text 12"/>
          <p:cNvSpPr/>
          <p:nvPr/>
        </p:nvSpPr>
        <p:spPr>
          <a:xfrm>
            <a:off x="5313998" y="6113859"/>
            <a:ext cx="4002286" cy="645795"/>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EBECEF"/>
                </a:solidFill>
                <a:latin typeface="Epilogue" pitchFamily="34" charset="0"/>
                <a:ea typeface="Epilogue" pitchFamily="34" charset="-122"/>
                <a:cs typeface="Epilogue" pitchFamily="34" charset="-120"/>
              </a:rPr>
              <a:t>Categorical encoding using </a:t>
            </a:r>
            <a:pPr algn="l" indent="0" marL="0">
              <a:lnSpc>
                <a:spcPts val="2500"/>
              </a:lnSpc>
              <a:buNone/>
            </a:pPr>
            <a:r>
              <a:rPr lang="en-US" sz="1550" b="1" dirty="0">
                <a:solidFill>
                  <a:srgbClr val="EBECEF"/>
                </a:solidFill>
                <a:latin typeface="Epilogue" pitchFamily="34" charset="0"/>
                <a:ea typeface="Epilogue" pitchFamily="34" charset="-122"/>
                <a:cs typeface="Epilogue" pitchFamily="34" charset="-120"/>
              </a:rPr>
              <a:t>LabelEncoder</a:t>
            </a:r>
            <a:pPr algn="l" indent="0" marL="0">
              <a:lnSpc>
                <a:spcPts val="2500"/>
              </a:lnSpc>
              <a:buNone/>
            </a:pPr>
            <a:r>
              <a:rPr lang="en-US" sz="1550" dirty="0">
                <a:solidFill>
                  <a:srgbClr val="EBECEF"/>
                </a:solidFill>
                <a:latin typeface="Epilogue" pitchFamily="34" charset="0"/>
                <a:ea typeface="Epilogue" pitchFamily="34" charset="-122"/>
                <a:cs typeface="Epilogue" pitchFamily="34" charset="-120"/>
              </a:rPr>
              <a:t> and </a:t>
            </a:r>
            <a:pPr algn="l" indent="0" marL="0">
              <a:lnSpc>
                <a:spcPts val="2500"/>
              </a:lnSpc>
              <a:buNone/>
            </a:pPr>
            <a:r>
              <a:rPr lang="en-US" sz="1550" b="1" dirty="0">
                <a:solidFill>
                  <a:srgbClr val="EBECEF"/>
                </a:solidFill>
                <a:latin typeface="Epilogue" pitchFamily="34" charset="0"/>
                <a:ea typeface="Epilogue" pitchFamily="34" charset="-122"/>
                <a:cs typeface="Epilogue" pitchFamily="34" charset="-120"/>
              </a:rPr>
              <a:t>OneHotEncoder</a:t>
            </a:r>
            <a:endParaRPr lang="en-US" sz="1550" dirty="0"/>
          </a:p>
        </p:txBody>
      </p:sp>
      <p:pic>
        <p:nvPicPr>
          <p:cNvPr id="17" name="Image 2" descr="preencoded.png">    </p:cNvPr>
          <p:cNvPicPr>
            <a:picLocks noChangeAspect="1"/>
          </p:cNvPicPr>
          <p:nvPr/>
        </p:nvPicPr>
        <p:blipFill>
          <a:blip r:embed="rId3"/>
          <a:stretch>
            <a:fillRect/>
          </a:stretch>
        </p:blipFill>
        <p:spPr>
          <a:xfrm>
            <a:off x="9518094" y="1752362"/>
            <a:ext cx="4405789" cy="807244"/>
          </a:xfrm>
          <a:prstGeom prst="rect">
            <a:avLst/>
          </a:prstGeom>
        </p:spPr>
      </p:pic>
      <p:sp>
        <p:nvSpPr>
          <p:cNvPr id="18" name="Text 13"/>
          <p:cNvSpPr/>
          <p:nvPr/>
        </p:nvSpPr>
        <p:spPr>
          <a:xfrm>
            <a:off x="9719905" y="2761417"/>
            <a:ext cx="2522934" cy="315278"/>
          </a:xfrm>
          <a:prstGeom prst="rect">
            <a:avLst/>
          </a:prstGeom>
          <a:noFill/>
          <a:ln/>
        </p:spPr>
        <p:txBody>
          <a:bodyPr wrap="none" lIns="0" tIns="0" rIns="0" bIns="0" rtlCol="0" anchor="t"/>
          <a:lstStyle/>
          <a:p>
            <a:pPr algn="l" indent="0" marL="0">
              <a:lnSpc>
                <a:spcPts val="2450"/>
              </a:lnSpc>
              <a:buNone/>
            </a:pPr>
            <a:r>
              <a:rPr lang="en-US" sz="1950" dirty="0">
                <a:solidFill>
                  <a:srgbClr val="EBECEF"/>
                </a:solidFill>
                <a:latin typeface="Fraunces Medium" pitchFamily="34" charset="0"/>
                <a:ea typeface="Fraunces Medium" pitchFamily="34" charset="-122"/>
                <a:cs typeface="Fraunces Medium" pitchFamily="34" charset="-120"/>
              </a:rPr>
              <a:t>Feature Engineering</a:t>
            </a:r>
            <a:endParaRPr lang="en-US" sz="1950" dirty="0"/>
          </a:p>
        </p:txBody>
      </p:sp>
      <p:sp>
        <p:nvSpPr>
          <p:cNvPr id="19" name="Text 14"/>
          <p:cNvSpPr/>
          <p:nvPr/>
        </p:nvSpPr>
        <p:spPr>
          <a:xfrm>
            <a:off x="9719905" y="3197781"/>
            <a:ext cx="4002167" cy="322898"/>
          </a:xfrm>
          <a:prstGeom prst="rect">
            <a:avLst/>
          </a:prstGeom>
          <a:noFill/>
          <a:ln/>
        </p:spPr>
        <p:txBody>
          <a:bodyPr wrap="none" lIns="0" tIns="0" rIns="0" bIns="0" rtlCol="0" anchor="t"/>
          <a:lstStyle/>
          <a:p>
            <a:pPr algn="l" indent="0" marL="0">
              <a:lnSpc>
                <a:spcPts val="2500"/>
              </a:lnSpc>
              <a:buNone/>
            </a:pPr>
            <a:r>
              <a:rPr lang="en-US" sz="1550" dirty="0">
                <a:solidFill>
                  <a:srgbClr val="EBECEF"/>
                </a:solidFill>
                <a:latin typeface="Epilogue" pitchFamily="34" charset="0"/>
                <a:ea typeface="Epilogue" pitchFamily="34" charset="-122"/>
                <a:cs typeface="Epilogue" pitchFamily="34" charset="-120"/>
              </a:rPr>
              <a:t>Enhanced predictive power through:</a:t>
            </a:r>
            <a:endParaRPr lang="en-US" sz="1550" dirty="0"/>
          </a:p>
        </p:txBody>
      </p:sp>
      <p:sp>
        <p:nvSpPr>
          <p:cNvPr id="20" name="Text 15"/>
          <p:cNvSpPr/>
          <p:nvPr/>
        </p:nvSpPr>
        <p:spPr>
          <a:xfrm>
            <a:off x="9719905" y="3641765"/>
            <a:ext cx="4002167" cy="645795"/>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EBECEF"/>
                </a:solidFill>
                <a:latin typeface="Epilogue" pitchFamily="34" charset="0"/>
                <a:ea typeface="Epilogue" pitchFamily="34" charset="-122"/>
                <a:cs typeface="Epilogue" pitchFamily="34" charset="-120"/>
              </a:rPr>
              <a:t>Categorical features encoded using Label Encoding</a:t>
            </a:r>
            <a:endParaRPr lang="en-US" sz="1550" dirty="0"/>
          </a:p>
        </p:txBody>
      </p:sp>
      <p:sp>
        <p:nvSpPr>
          <p:cNvPr id="21" name="Text 16"/>
          <p:cNvSpPr/>
          <p:nvPr/>
        </p:nvSpPr>
        <p:spPr>
          <a:xfrm>
            <a:off x="9719905" y="4358164"/>
            <a:ext cx="4002167" cy="645795"/>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EBECEF"/>
                </a:solidFill>
                <a:latin typeface="Epilogue" pitchFamily="34" charset="0"/>
                <a:ea typeface="Epilogue" pitchFamily="34" charset="-122"/>
                <a:cs typeface="Epilogue" pitchFamily="34" charset="-120"/>
              </a:rPr>
              <a:t>Feature scaling done via StandardScaler</a:t>
            </a:r>
            <a:endParaRPr lang="en-US" sz="1550" dirty="0"/>
          </a:p>
        </p:txBody>
      </p:sp>
      <p:sp>
        <p:nvSpPr>
          <p:cNvPr id="22" name="Text 17"/>
          <p:cNvSpPr/>
          <p:nvPr/>
        </p:nvSpPr>
        <p:spPr>
          <a:xfrm>
            <a:off x="9719905" y="5074563"/>
            <a:ext cx="4002167" cy="968693"/>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EBECEF"/>
                </a:solidFill>
                <a:latin typeface="Epilogue" pitchFamily="34" charset="0"/>
                <a:ea typeface="Epilogue" pitchFamily="34" charset="-122"/>
                <a:cs typeface="Epilogue" pitchFamily="34" charset="-120"/>
              </a:rPr>
              <a:t>Important features selected based on domain knowledge and correlation</a:t>
            </a:r>
            <a:endParaRPr lang="en-US" sz="1550" dirty="0"/>
          </a:p>
        </p:txBody>
      </p:sp>
      <p:sp>
        <p:nvSpPr>
          <p:cNvPr id="23" name="Text 18"/>
          <p:cNvSpPr/>
          <p:nvPr/>
        </p:nvSpPr>
        <p:spPr>
          <a:xfrm>
            <a:off x="706398" y="7188518"/>
            <a:ext cx="13217604" cy="322898"/>
          </a:xfrm>
          <a:prstGeom prst="rect">
            <a:avLst/>
          </a:prstGeom>
          <a:noFill/>
          <a:ln/>
        </p:spPr>
        <p:txBody>
          <a:bodyPr wrap="none" lIns="0" tIns="0" rIns="0" bIns="0" rtlCol="0" anchor="t"/>
          <a:lstStyle/>
          <a:p>
            <a:pPr algn="l" indent="0" marL="0">
              <a:lnSpc>
                <a:spcPts val="2500"/>
              </a:lnSpc>
              <a:buNone/>
            </a:pPr>
            <a:r>
              <a:rPr lang="en-US" sz="1550" dirty="0">
                <a:solidFill>
                  <a:srgbClr val="EBECEF"/>
                </a:solidFill>
                <a:latin typeface="Epilogue" pitchFamily="34" charset="0"/>
                <a:ea typeface="Epilogue" pitchFamily="34" charset="-122"/>
                <a:cs typeface="Epilogue" pitchFamily="34" charset="-120"/>
              </a:rPr>
              <a:t>Preprocessing code available in our GitHub repository: heart_disease_preprocessing.ipynb</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03871" y="661392"/>
            <a:ext cx="7625953" cy="640675"/>
          </a:xfrm>
          <a:prstGeom prst="rect">
            <a:avLst/>
          </a:prstGeom>
          <a:noFill/>
          <a:ln/>
        </p:spPr>
        <p:txBody>
          <a:bodyPr wrap="none" lIns="0" tIns="0" rIns="0" bIns="0" rtlCol="0" anchor="t"/>
          <a:lstStyle/>
          <a:p>
            <a:pPr algn="l" indent="0" marL="0">
              <a:lnSpc>
                <a:spcPts val="5000"/>
              </a:lnSpc>
              <a:buNone/>
            </a:pPr>
            <a:r>
              <a:rPr lang="en-US" sz="4000" dirty="0">
                <a:solidFill>
                  <a:srgbClr val="FFFFFF"/>
                </a:solidFill>
                <a:latin typeface="Fraunces Medium" pitchFamily="34" charset="0"/>
                <a:ea typeface="Fraunces Medium" pitchFamily="34" charset="-122"/>
                <a:cs typeface="Fraunces Medium" pitchFamily="34" charset="-120"/>
              </a:rPr>
              <a:t>Model Development &amp; Training</a:t>
            </a:r>
            <a:endParaRPr lang="en-US" sz="4000" dirty="0"/>
          </a:p>
        </p:txBody>
      </p:sp>
      <p:sp>
        <p:nvSpPr>
          <p:cNvPr id="4" name="Shape 1"/>
          <p:cNvSpPr/>
          <p:nvPr/>
        </p:nvSpPr>
        <p:spPr>
          <a:xfrm>
            <a:off x="6203871" y="1609487"/>
            <a:ext cx="7709059" cy="2876907"/>
          </a:xfrm>
          <a:prstGeom prst="roundRect">
            <a:avLst>
              <a:gd name="adj" fmla="val 2993"/>
            </a:avLst>
          </a:prstGeom>
          <a:solidFill>
            <a:srgbClr val="080E26"/>
          </a:solidFill>
          <a:ln w="22860">
            <a:solidFill>
              <a:srgbClr val="414A70"/>
            </a:solidFill>
            <a:prstDash val="solid"/>
          </a:ln>
        </p:spPr>
      </p:sp>
      <p:sp>
        <p:nvSpPr>
          <p:cNvPr id="5" name="Text 2"/>
          <p:cNvSpPr/>
          <p:nvPr/>
        </p:nvSpPr>
        <p:spPr>
          <a:xfrm>
            <a:off x="6431637" y="1837253"/>
            <a:ext cx="2562701" cy="320278"/>
          </a:xfrm>
          <a:prstGeom prst="rect">
            <a:avLst/>
          </a:prstGeom>
          <a:noFill/>
          <a:ln/>
        </p:spPr>
        <p:txBody>
          <a:bodyPr wrap="none" lIns="0" tIns="0" rIns="0" bIns="0" rtlCol="0" anchor="t"/>
          <a:lstStyle/>
          <a:p>
            <a:pPr algn="l" indent="0" marL="0">
              <a:lnSpc>
                <a:spcPts val="2500"/>
              </a:lnSpc>
              <a:buNone/>
            </a:pPr>
            <a:r>
              <a:rPr lang="en-US" sz="2000" dirty="0">
                <a:solidFill>
                  <a:srgbClr val="EBECEF"/>
                </a:solidFill>
                <a:latin typeface="Fraunces Medium" pitchFamily="34" charset="0"/>
                <a:ea typeface="Fraunces Medium" pitchFamily="34" charset="-122"/>
                <a:cs typeface="Fraunces Medium" pitchFamily="34" charset="-120"/>
              </a:rPr>
              <a:t>Model Selection</a:t>
            </a:r>
            <a:endParaRPr lang="en-US" sz="2000" dirty="0"/>
          </a:p>
        </p:txBody>
      </p:sp>
      <p:sp>
        <p:nvSpPr>
          <p:cNvPr id="6" name="Text 3"/>
          <p:cNvSpPr/>
          <p:nvPr/>
        </p:nvSpPr>
        <p:spPr>
          <a:xfrm>
            <a:off x="6431637" y="2280523"/>
            <a:ext cx="7253526" cy="328017"/>
          </a:xfrm>
          <a:prstGeom prst="rect">
            <a:avLst/>
          </a:prstGeom>
          <a:noFill/>
          <a:ln/>
        </p:spPr>
        <p:txBody>
          <a:bodyPr wrap="none" lIns="0" tIns="0" rIns="0" bIns="0" rtlCol="0" anchor="t"/>
          <a:lstStyle/>
          <a:p>
            <a:pPr algn="l" indent="0" marL="0">
              <a:lnSpc>
                <a:spcPts val="2550"/>
              </a:lnSpc>
              <a:buNone/>
            </a:pPr>
            <a:r>
              <a:rPr lang="en-US" sz="1600" dirty="0">
                <a:solidFill>
                  <a:srgbClr val="EBECEF"/>
                </a:solidFill>
                <a:latin typeface="Epilogue" pitchFamily="34" charset="0"/>
                <a:ea typeface="Epilogue" pitchFamily="34" charset="-122"/>
                <a:cs typeface="Epilogue" pitchFamily="34" charset="-120"/>
              </a:rPr>
              <a:t>We evaluated multiple algorithms to find the optimal approach:</a:t>
            </a:r>
            <a:endParaRPr lang="en-US" sz="1600" dirty="0"/>
          </a:p>
        </p:txBody>
      </p:sp>
      <p:sp>
        <p:nvSpPr>
          <p:cNvPr id="7" name="Text 4"/>
          <p:cNvSpPr/>
          <p:nvPr/>
        </p:nvSpPr>
        <p:spPr>
          <a:xfrm>
            <a:off x="6431637" y="2731532"/>
            <a:ext cx="7253526" cy="328017"/>
          </a:xfrm>
          <a:prstGeom prst="rect">
            <a:avLst/>
          </a:prstGeom>
          <a:noFill/>
          <a:ln/>
        </p:spPr>
        <p:txBody>
          <a:bodyPr wrap="none" lIns="0" tIns="0" rIns="0" bIns="0" rtlCol="0" anchor="t"/>
          <a:lstStyle/>
          <a:p>
            <a:pPr algn="l" marL="342900" indent="-342900">
              <a:lnSpc>
                <a:spcPts val="2550"/>
              </a:lnSpc>
              <a:buSzPct val="100000"/>
              <a:buChar char="•"/>
            </a:pPr>
            <a:r>
              <a:rPr lang="en-US" sz="1600" dirty="0">
                <a:solidFill>
                  <a:srgbClr val="EBECEF"/>
                </a:solidFill>
                <a:latin typeface="Epilogue" pitchFamily="34" charset="0"/>
                <a:ea typeface="Epilogue" pitchFamily="34" charset="-122"/>
                <a:cs typeface="Epilogue" pitchFamily="34" charset="-120"/>
              </a:rPr>
              <a:t>Logistic Regression - baseline model</a:t>
            </a:r>
            <a:endParaRPr lang="en-US" sz="1600" dirty="0"/>
          </a:p>
        </p:txBody>
      </p:sp>
      <p:sp>
        <p:nvSpPr>
          <p:cNvPr id="8" name="Text 5"/>
          <p:cNvSpPr/>
          <p:nvPr/>
        </p:nvSpPr>
        <p:spPr>
          <a:xfrm>
            <a:off x="6431637" y="3131225"/>
            <a:ext cx="7253526" cy="328017"/>
          </a:xfrm>
          <a:prstGeom prst="rect">
            <a:avLst/>
          </a:prstGeom>
          <a:noFill/>
          <a:ln/>
        </p:spPr>
        <p:txBody>
          <a:bodyPr wrap="none" lIns="0" tIns="0" rIns="0" bIns="0" rtlCol="0" anchor="t"/>
          <a:lstStyle/>
          <a:p>
            <a:pPr algn="l" marL="342900" indent="-342900">
              <a:lnSpc>
                <a:spcPts val="2550"/>
              </a:lnSpc>
              <a:buSzPct val="100000"/>
              <a:buChar char="•"/>
            </a:pPr>
            <a:r>
              <a:rPr lang="en-US" sz="1600" dirty="0">
                <a:solidFill>
                  <a:srgbClr val="EBECEF"/>
                </a:solidFill>
                <a:latin typeface="Epilogue" pitchFamily="34" charset="0"/>
                <a:ea typeface="Epilogue" pitchFamily="34" charset="-122"/>
                <a:cs typeface="Epilogue" pitchFamily="34" charset="-120"/>
              </a:rPr>
              <a:t>Random Forest - robust to overfitting</a:t>
            </a:r>
            <a:endParaRPr lang="en-US" sz="1600" dirty="0"/>
          </a:p>
        </p:txBody>
      </p:sp>
      <p:sp>
        <p:nvSpPr>
          <p:cNvPr id="9" name="Text 6"/>
          <p:cNvSpPr/>
          <p:nvPr/>
        </p:nvSpPr>
        <p:spPr>
          <a:xfrm>
            <a:off x="6431637" y="3530918"/>
            <a:ext cx="7253526" cy="328017"/>
          </a:xfrm>
          <a:prstGeom prst="rect">
            <a:avLst/>
          </a:prstGeom>
          <a:noFill/>
          <a:ln/>
        </p:spPr>
        <p:txBody>
          <a:bodyPr wrap="none" lIns="0" tIns="0" rIns="0" bIns="0" rtlCol="0" anchor="t"/>
          <a:lstStyle/>
          <a:p>
            <a:pPr algn="l" marL="342900" indent="-342900">
              <a:lnSpc>
                <a:spcPts val="2550"/>
              </a:lnSpc>
              <a:buSzPct val="100000"/>
              <a:buChar char="•"/>
            </a:pPr>
            <a:r>
              <a:rPr lang="en-US" sz="1600" dirty="0">
                <a:solidFill>
                  <a:srgbClr val="EBECEF"/>
                </a:solidFill>
                <a:latin typeface="Epilogue" pitchFamily="34" charset="0"/>
                <a:ea typeface="Epilogue" pitchFamily="34" charset="-122"/>
                <a:cs typeface="Epilogue" pitchFamily="34" charset="-120"/>
              </a:rPr>
              <a:t>SVM - effective for non-linear boundaries</a:t>
            </a:r>
            <a:endParaRPr lang="en-US" sz="1600" dirty="0"/>
          </a:p>
        </p:txBody>
      </p:sp>
      <p:sp>
        <p:nvSpPr>
          <p:cNvPr id="10" name="Text 7"/>
          <p:cNvSpPr/>
          <p:nvPr/>
        </p:nvSpPr>
        <p:spPr>
          <a:xfrm>
            <a:off x="6431637" y="3930610"/>
            <a:ext cx="7253526" cy="328017"/>
          </a:xfrm>
          <a:prstGeom prst="rect">
            <a:avLst/>
          </a:prstGeom>
          <a:noFill/>
          <a:ln/>
        </p:spPr>
        <p:txBody>
          <a:bodyPr wrap="none" lIns="0" tIns="0" rIns="0" bIns="0" rtlCol="0" anchor="t"/>
          <a:lstStyle/>
          <a:p>
            <a:pPr algn="l" marL="342900" indent="-342900">
              <a:lnSpc>
                <a:spcPts val="2550"/>
              </a:lnSpc>
              <a:buSzPct val="100000"/>
              <a:buChar char="•"/>
            </a:pPr>
            <a:r>
              <a:rPr lang="en-US" sz="1600" dirty="0">
                <a:solidFill>
                  <a:srgbClr val="EBECEF"/>
                </a:solidFill>
                <a:latin typeface="Epilogue" pitchFamily="34" charset="0"/>
                <a:ea typeface="Epilogue" pitchFamily="34" charset="-122"/>
                <a:cs typeface="Epilogue" pitchFamily="34" charset="-120"/>
              </a:rPr>
              <a:t>Artificial Neural Network - deep learning capabilities</a:t>
            </a:r>
            <a:endParaRPr lang="en-US" sz="1600" dirty="0"/>
          </a:p>
        </p:txBody>
      </p:sp>
      <p:sp>
        <p:nvSpPr>
          <p:cNvPr id="11" name="Shape 8"/>
          <p:cNvSpPr/>
          <p:nvPr/>
        </p:nvSpPr>
        <p:spPr>
          <a:xfrm>
            <a:off x="6203871" y="4691301"/>
            <a:ext cx="7709059" cy="2876907"/>
          </a:xfrm>
          <a:prstGeom prst="roundRect">
            <a:avLst>
              <a:gd name="adj" fmla="val 2993"/>
            </a:avLst>
          </a:prstGeom>
          <a:solidFill>
            <a:srgbClr val="080E26"/>
          </a:solidFill>
          <a:ln w="22860">
            <a:solidFill>
              <a:srgbClr val="414A70"/>
            </a:solidFill>
            <a:prstDash val="solid"/>
          </a:ln>
        </p:spPr>
      </p:sp>
      <p:sp>
        <p:nvSpPr>
          <p:cNvPr id="12" name="Text 9"/>
          <p:cNvSpPr/>
          <p:nvPr/>
        </p:nvSpPr>
        <p:spPr>
          <a:xfrm>
            <a:off x="6431637" y="4919067"/>
            <a:ext cx="2720221" cy="320278"/>
          </a:xfrm>
          <a:prstGeom prst="rect">
            <a:avLst/>
          </a:prstGeom>
          <a:noFill/>
          <a:ln/>
        </p:spPr>
        <p:txBody>
          <a:bodyPr wrap="none" lIns="0" tIns="0" rIns="0" bIns="0" rtlCol="0" anchor="t"/>
          <a:lstStyle/>
          <a:p>
            <a:pPr algn="l" indent="0" marL="0">
              <a:lnSpc>
                <a:spcPts val="2500"/>
              </a:lnSpc>
              <a:buNone/>
            </a:pPr>
            <a:r>
              <a:rPr lang="en-US" sz="2000" dirty="0">
                <a:solidFill>
                  <a:srgbClr val="EBECEF"/>
                </a:solidFill>
                <a:latin typeface="Fraunces Medium" pitchFamily="34" charset="0"/>
                <a:ea typeface="Fraunces Medium" pitchFamily="34" charset="-122"/>
                <a:cs typeface="Fraunces Medium" pitchFamily="34" charset="-120"/>
              </a:rPr>
              <a:t>Training Methodology</a:t>
            </a:r>
            <a:endParaRPr lang="en-US" sz="2000" dirty="0"/>
          </a:p>
        </p:txBody>
      </p:sp>
      <p:sp>
        <p:nvSpPr>
          <p:cNvPr id="13" name="Text 10"/>
          <p:cNvSpPr/>
          <p:nvPr/>
        </p:nvSpPr>
        <p:spPr>
          <a:xfrm>
            <a:off x="6431637" y="5362337"/>
            <a:ext cx="7253526" cy="328017"/>
          </a:xfrm>
          <a:prstGeom prst="rect">
            <a:avLst/>
          </a:prstGeom>
          <a:noFill/>
          <a:ln/>
        </p:spPr>
        <p:txBody>
          <a:bodyPr wrap="none" lIns="0" tIns="0" rIns="0" bIns="0" rtlCol="0" anchor="t"/>
          <a:lstStyle/>
          <a:p>
            <a:pPr algn="l" indent="0" marL="0">
              <a:lnSpc>
                <a:spcPts val="2550"/>
              </a:lnSpc>
              <a:buNone/>
            </a:pPr>
            <a:r>
              <a:rPr lang="en-US" sz="1600" dirty="0">
                <a:solidFill>
                  <a:srgbClr val="EBECEF"/>
                </a:solidFill>
                <a:latin typeface="Epilogue" pitchFamily="34" charset="0"/>
                <a:ea typeface="Epilogue" pitchFamily="34" charset="-122"/>
                <a:cs typeface="Epilogue" pitchFamily="34" charset="-120"/>
              </a:rPr>
              <a:t>Rigorous model training process:</a:t>
            </a:r>
            <a:endParaRPr lang="en-US" sz="1600" dirty="0"/>
          </a:p>
        </p:txBody>
      </p:sp>
      <p:sp>
        <p:nvSpPr>
          <p:cNvPr id="14" name="Text 11"/>
          <p:cNvSpPr/>
          <p:nvPr/>
        </p:nvSpPr>
        <p:spPr>
          <a:xfrm>
            <a:off x="6431637" y="5813346"/>
            <a:ext cx="7253526" cy="328017"/>
          </a:xfrm>
          <a:prstGeom prst="rect">
            <a:avLst/>
          </a:prstGeom>
          <a:noFill/>
          <a:ln/>
        </p:spPr>
        <p:txBody>
          <a:bodyPr wrap="none" lIns="0" tIns="0" rIns="0" bIns="0" rtlCol="0" anchor="t"/>
          <a:lstStyle/>
          <a:p>
            <a:pPr algn="l" marL="342900" indent="-342900">
              <a:lnSpc>
                <a:spcPts val="2550"/>
              </a:lnSpc>
              <a:buSzPct val="100000"/>
              <a:buChar char="•"/>
            </a:pPr>
            <a:r>
              <a:rPr lang="en-US" sz="1600" dirty="0">
                <a:solidFill>
                  <a:srgbClr val="EBECEF"/>
                </a:solidFill>
                <a:latin typeface="Epilogue" pitchFamily="34" charset="0"/>
                <a:ea typeface="Epilogue" pitchFamily="34" charset="-122"/>
                <a:cs typeface="Epilogue" pitchFamily="34" charset="-120"/>
              </a:rPr>
              <a:t>5-fold cross-validation</a:t>
            </a:r>
            <a:endParaRPr lang="en-US" sz="1600" dirty="0"/>
          </a:p>
        </p:txBody>
      </p:sp>
      <p:sp>
        <p:nvSpPr>
          <p:cNvPr id="15" name="Text 12"/>
          <p:cNvSpPr/>
          <p:nvPr/>
        </p:nvSpPr>
        <p:spPr>
          <a:xfrm>
            <a:off x="6431637" y="6213038"/>
            <a:ext cx="7253526" cy="328017"/>
          </a:xfrm>
          <a:prstGeom prst="rect">
            <a:avLst/>
          </a:prstGeom>
          <a:noFill/>
          <a:ln/>
        </p:spPr>
        <p:txBody>
          <a:bodyPr wrap="none" lIns="0" tIns="0" rIns="0" bIns="0" rtlCol="0" anchor="t"/>
          <a:lstStyle/>
          <a:p>
            <a:pPr algn="l" marL="342900" indent="-342900">
              <a:lnSpc>
                <a:spcPts val="2550"/>
              </a:lnSpc>
              <a:buSzPct val="100000"/>
              <a:buChar char="•"/>
            </a:pPr>
            <a:r>
              <a:rPr lang="en-US" sz="1600" dirty="0">
                <a:solidFill>
                  <a:srgbClr val="EBECEF"/>
                </a:solidFill>
                <a:latin typeface="Epilogue" pitchFamily="34" charset="0"/>
                <a:ea typeface="Epilogue" pitchFamily="34" charset="-122"/>
                <a:cs typeface="Epilogue" pitchFamily="34" charset="-120"/>
              </a:rPr>
              <a:t>Stratified sampling</a:t>
            </a:r>
            <a:endParaRPr lang="en-US" sz="1600" dirty="0"/>
          </a:p>
        </p:txBody>
      </p:sp>
      <p:sp>
        <p:nvSpPr>
          <p:cNvPr id="16" name="Text 13"/>
          <p:cNvSpPr/>
          <p:nvPr/>
        </p:nvSpPr>
        <p:spPr>
          <a:xfrm>
            <a:off x="6431637" y="6612731"/>
            <a:ext cx="7253526" cy="328017"/>
          </a:xfrm>
          <a:prstGeom prst="rect">
            <a:avLst/>
          </a:prstGeom>
          <a:noFill/>
          <a:ln/>
        </p:spPr>
        <p:txBody>
          <a:bodyPr wrap="none" lIns="0" tIns="0" rIns="0" bIns="0" rtlCol="0" anchor="t"/>
          <a:lstStyle/>
          <a:p>
            <a:pPr algn="l" marL="342900" indent="-342900">
              <a:lnSpc>
                <a:spcPts val="2550"/>
              </a:lnSpc>
              <a:buSzPct val="100000"/>
              <a:buChar char="•"/>
            </a:pPr>
            <a:r>
              <a:rPr lang="en-US" sz="1600" dirty="0">
                <a:solidFill>
                  <a:srgbClr val="EBECEF"/>
                </a:solidFill>
                <a:latin typeface="Epilogue" pitchFamily="34" charset="0"/>
                <a:ea typeface="Epilogue" pitchFamily="34" charset="-122"/>
                <a:cs typeface="Epilogue" pitchFamily="34" charset="-120"/>
              </a:rPr>
              <a:t>Hyperparameter tuning via GridSearchCV</a:t>
            </a:r>
            <a:endParaRPr lang="en-US" sz="1600" dirty="0"/>
          </a:p>
        </p:txBody>
      </p:sp>
      <p:sp>
        <p:nvSpPr>
          <p:cNvPr id="17" name="Text 14"/>
          <p:cNvSpPr/>
          <p:nvPr/>
        </p:nvSpPr>
        <p:spPr>
          <a:xfrm>
            <a:off x="6431637" y="7012424"/>
            <a:ext cx="7253526" cy="328017"/>
          </a:xfrm>
          <a:prstGeom prst="rect">
            <a:avLst/>
          </a:prstGeom>
          <a:noFill/>
          <a:ln/>
        </p:spPr>
        <p:txBody>
          <a:bodyPr wrap="none" lIns="0" tIns="0" rIns="0" bIns="0" rtlCol="0" anchor="t"/>
          <a:lstStyle/>
          <a:p>
            <a:pPr algn="l" marL="342900" indent="-342900">
              <a:lnSpc>
                <a:spcPts val="2550"/>
              </a:lnSpc>
              <a:buSzPct val="100000"/>
              <a:buChar char="•"/>
            </a:pPr>
            <a:r>
              <a:rPr lang="en-US" sz="1600" dirty="0">
                <a:solidFill>
                  <a:srgbClr val="EBECEF"/>
                </a:solidFill>
                <a:latin typeface="Epilogue" pitchFamily="34" charset="0"/>
                <a:ea typeface="Epilogue" pitchFamily="34" charset="-122"/>
                <a:cs typeface="Epilogue" pitchFamily="34" charset="-120"/>
              </a:rPr>
              <a:t>Early stopping to prevent overfitting</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50094" y="590669"/>
            <a:ext cx="6974681" cy="669727"/>
          </a:xfrm>
          <a:prstGeom prst="rect">
            <a:avLst/>
          </a:prstGeom>
          <a:noFill/>
          <a:ln/>
        </p:spPr>
        <p:txBody>
          <a:bodyPr wrap="none" lIns="0" tIns="0" rIns="0" bIns="0" rtlCol="0" anchor="t"/>
          <a:lstStyle/>
          <a:p>
            <a:pPr algn="l" indent="0" marL="0">
              <a:lnSpc>
                <a:spcPts val="5250"/>
              </a:lnSpc>
              <a:buNone/>
            </a:pPr>
            <a:r>
              <a:rPr lang="en-US" sz="4200" dirty="0">
                <a:solidFill>
                  <a:srgbClr val="FFFFFF"/>
                </a:solidFill>
                <a:latin typeface="Fraunces Medium" pitchFamily="34" charset="0"/>
                <a:ea typeface="Fraunces Medium" pitchFamily="34" charset="-122"/>
                <a:cs typeface="Fraunces Medium" pitchFamily="34" charset="-120"/>
              </a:rPr>
              <a:t>Model Evaluation &amp; Results</a:t>
            </a:r>
            <a:endParaRPr lang="en-US" sz="4200" dirty="0"/>
          </a:p>
        </p:txBody>
      </p:sp>
      <p:pic>
        <p:nvPicPr>
          <p:cNvPr id="3" name="Image 0" descr="preencoded.png">    </p:cNvPr>
          <p:cNvPicPr>
            <a:picLocks noChangeAspect="1"/>
          </p:cNvPicPr>
          <p:nvPr/>
        </p:nvPicPr>
        <p:blipFill>
          <a:blip r:embed="rId1"/>
          <a:stretch>
            <a:fillRect/>
          </a:stretch>
        </p:blipFill>
        <p:spPr>
          <a:xfrm>
            <a:off x="750094" y="1822966"/>
            <a:ext cx="6303645" cy="3529965"/>
          </a:xfrm>
          <a:prstGeom prst="rect">
            <a:avLst/>
          </a:prstGeom>
        </p:spPr>
      </p:pic>
      <p:sp>
        <p:nvSpPr>
          <p:cNvPr id="4" name="Text 1"/>
          <p:cNvSpPr/>
          <p:nvPr/>
        </p:nvSpPr>
        <p:spPr>
          <a:xfrm>
            <a:off x="7584281" y="1796177"/>
            <a:ext cx="3250525" cy="334804"/>
          </a:xfrm>
          <a:prstGeom prst="rect">
            <a:avLst/>
          </a:prstGeom>
          <a:noFill/>
          <a:ln/>
        </p:spPr>
        <p:txBody>
          <a:bodyPr wrap="none" lIns="0" tIns="0" rIns="0" bIns="0" rtlCol="0" anchor="t"/>
          <a:lstStyle/>
          <a:p>
            <a:pPr algn="l" indent="0" marL="0">
              <a:lnSpc>
                <a:spcPts val="2600"/>
              </a:lnSpc>
              <a:buNone/>
            </a:pPr>
            <a:r>
              <a:rPr lang="en-US" sz="2100" dirty="0">
                <a:solidFill>
                  <a:srgbClr val="FFFFFF"/>
                </a:solidFill>
                <a:latin typeface="Fraunces Medium" pitchFamily="34" charset="0"/>
                <a:ea typeface="Fraunces Medium" pitchFamily="34" charset="-122"/>
                <a:cs typeface="Fraunces Medium" pitchFamily="34" charset="-120"/>
              </a:rPr>
              <a:t>Key Performance Metrics</a:t>
            </a:r>
            <a:endParaRPr lang="en-US" sz="2100" dirty="0"/>
          </a:p>
        </p:txBody>
      </p:sp>
      <p:sp>
        <p:nvSpPr>
          <p:cNvPr id="5" name="Text 2"/>
          <p:cNvSpPr/>
          <p:nvPr/>
        </p:nvSpPr>
        <p:spPr>
          <a:xfrm>
            <a:off x="7584281" y="2345293"/>
            <a:ext cx="6303645" cy="342900"/>
          </a:xfrm>
          <a:prstGeom prst="rect">
            <a:avLst/>
          </a:prstGeom>
          <a:noFill/>
          <a:ln/>
        </p:spPr>
        <p:txBody>
          <a:bodyPr wrap="none" lIns="0" tIns="0" rIns="0" bIns="0" rtlCol="0" anchor="t"/>
          <a:lstStyle/>
          <a:p>
            <a:pPr algn="l" indent="0" marL="0">
              <a:lnSpc>
                <a:spcPts val="2700"/>
              </a:lnSpc>
              <a:buNone/>
            </a:pPr>
            <a:r>
              <a:rPr lang="en-US" sz="1650" b="1" dirty="0">
                <a:solidFill>
                  <a:srgbClr val="EBECEF"/>
                </a:solidFill>
                <a:latin typeface="Epilogue" pitchFamily="34" charset="0"/>
                <a:ea typeface="Epilogue" pitchFamily="34" charset="-122"/>
                <a:cs typeface="Epilogue" pitchFamily="34" charset="-120"/>
              </a:rPr>
              <a:t>KNN (our final model):</a:t>
            </a:r>
            <a:endParaRPr lang="en-US" sz="1650" dirty="0"/>
          </a:p>
        </p:txBody>
      </p:sp>
      <p:sp>
        <p:nvSpPr>
          <p:cNvPr id="6" name="Text 3"/>
          <p:cNvSpPr/>
          <p:nvPr/>
        </p:nvSpPr>
        <p:spPr>
          <a:xfrm>
            <a:off x="7584281" y="2881074"/>
            <a:ext cx="6303645" cy="342900"/>
          </a:xfrm>
          <a:prstGeom prst="rect">
            <a:avLst/>
          </a:prstGeom>
          <a:noFill/>
          <a:ln/>
        </p:spPr>
        <p:txBody>
          <a:bodyPr wrap="none" lIns="0" tIns="0" rIns="0" bIns="0" rtlCol="0" anchor="t"/>
          <a:lstStyle/>
          <a:p>
            <a:pPr algn="l" marL="342900" indent="-342900">
              <a:lnSpc>
                <a:spcPts val="2700"/>
              </a:lnSpc>
              <a:buSzPct val="100000"/>
              <a:buChar char="•"/>
            </a:pPr>
            <a:r>
              <a:rPr lang="en-US" sz="1650" b="1" dirty="0">
                <a:solidFill>
                  <a:srgbClr val="EBECEF"/>
                </a:solidFill>
                <a:latin typeface="Epilogue" pitchFamily="34" charset="0"/>
                <a:ea typeface="Epilogue" pitchFamily="34" charset="-122"/>
                <a:cs typeface="Epilogue" pitchFamily="34" charset="-120"/>
              </a:rPr>
              <a:t>Accuracy:</a:t>
            </a:r>
            <a:pPr algn="l" indent="0" marL="0">
              <a:lnSpc>
                <a:spcPts val="2700"/>
              </a:lnSpc>
              <a:buNone/>
            </a:pPr>
            <a:r>
              <a:rPr lang="en-US" sz="1650" dirty="0">
                <a:solidFill>
                  <a:srgbClr val="EBECEF"/>
                </a:solidFill>
                <a:latin typeface="Epilogue" pitchFamily="34" charset="0"/>
                <a:ea typeface="Epilogue" pitchFamily="34" charset="-122"/>
                <a:cs typeface="Epilogue" pitchFamily="34" charset="-120"/>
              </a:rPr>
              <a:t> 88%</a:t>
            </a:r>
            <a:endParaRPr lang="en-US" sz="1650" dirty="0"/>
          </a:p>
        </p:txBody>
      </p:sp>
      <p:sp>
        <p:nvSpPr>
          <p:cNvPr id="7" name="Text 4"/>
          <p:cNvSpPr/>
          <p:nvPr/>
        </p:nvSpPr>
        <p:spPr>
          <a:xfrm>
            <a:off x="7584281" y="3298984"/>
            <a:ext cx="6303645" cy="342900"/>
          </a:xfrm>
          <a:prstGeom prst="rect">
            <a:avLst/>
          </a:prstGeom>
          <a:noFill/>
          <a:ln/>
        </p:spPr>
        <p:txBody>
          <a:bodyPr wrap="none" lIns="0" tIns="0" rIns="0" bIns="0" rtlCol="0" anchor="t"/>
          <a:lstStyle/>
          <a:p>
            <a:pPr algn="l" marL="342900" indent="-342900">
              <a:lnSpc>
                <a:spcPts val="2700"/>
              </a:lnSpc>
              <a:buSzPct val="100000"/>
              <a:buChar char="•"/>
            </a:pPr>
            <a:r>
              <a:rPr lang="en-US" sz="1650" b="1" dirty="0">
                <a:solidFill>
                  <a:srgbClr val="EBECEF"/>
                </a:solidFill>
                <a:latin typeface="Epilogue" pitchFamily="34" charset="0"/>
                <a:ea typeface="Epilogue" pitchFamily="34" charset="-122"/>
                <a:cs typeface="Epilogue" pitchFamily="34" charset="-120"/>
              </a:rPr>
              <a:t>Precision:</a:t>
            </a:r>
            <a:pPr algn="l" indent="0" marL="0">
              <a:lnSpc>
                <a:spcPts val="2700"/>
              </a:lnSpc>
              <a:buNone/>
            </a:pPr>
            <a:r>
              <a:rPr lang="en-US" sz="1650" dirty="0">
                <a:solidFill>
                  <a:srgbClr val="EBECEF"/>
                </a:solidFill>
                <a:latin typeface="Epilogue" pitchFamily="34" charset="0"/>
                <a:ea typeface="Epilogue" pitchFamily="34" charset="-122"/>
                <a:cs typeface="Epilogue" pitchFamily="34" charset="-120"/>
              </a:rPr>
              <a:t> 100% (for class 1), 82% (for class 0)</a:t>
            </a:r>
            <a:endParaRPr lang="en-US" sz="1650" dirty="0"/>
          </a:p>
        </p:txBody>
      </p:sp>
      <p:sp>
        <p:nvSpPr>
          <p:cNvPr id="8" name="Text 5"/>
          <p:cNvSpPr/>
          <p:nvPr/>
        </p:nvSpPr>
        <p:spPr>
          <a:xfrm>
            <a:off x="7584281" y="3716893"/>
            <a:ext cx="6303645" cy="342900"/>
          </a:xfrm>
          <a:prstGeom prst="rect">
            <a:avLst/>
          </a:prstGeom>
          <a:noFill/>
          <a:ln/>
        </p:spPr>
        <p:txBody>
          <a:bodyPr wrap="none" lIns="0" tIns="0" rIns="0" bIns="0" rtlCol="0" anchor="t"/>
          <a:lstStyle/>
          <a:p>
            <a:pPr algn="l" marL="342900" indent="-342900">
              <a:lnSpc>
                <a:spcPts val="2700"/>
              </a:lnSpc>
              <a:buSzPct val="100000"/>
              <a:buChar char="•"/>
            </a:pPr>
            <a:r>
              <a:rPr lang="en-US" sz="1650" b="1" dirty="0">
                <a:solidFill>
                  <a:srgbClr val="EBECEF"/>
                </a:solidFill>
                <a:latin typeface="Epilogue" pitchFamily="34" charset="0"/>
                <a:ea typeface="Epilogue" pitchFamily="34" charset="-122"/>
                <a:cs typeface="Epilogue" pitchFamily="34" charset="-120"/>
              </a:rPr>
              <a:t>Recall:</a:t>
            </a:r>
            <a:pPr algn="l" indent="0" marL="0">
              <a:lnSpc>
                <a:spcPts val="2700"/>
              </a:lnSpc>
              <a:buNone/>
            </a:pPr>
            <a:r>
              <a:rPr lang="en-US" sz="1650" dirty="0">
                <a:solidFill>
                  <a:srgbClr val="EBECEF"/>
                </a:solidFill>
                <a:latin typeface="Epilogue" pitchFamily="34" charset="0"/>
                <a:ea typeface="Epilogue" pitchFamily="34" charset="-122"/>
                <a:cs typeface="Epilogue" pitchFamily="34" charset="-120"/>
              </a:rPr>
              <a:t> 75% (for class 1), 100% (for class 0)</a:t>
            </a:r>
            <a:endParaRPr lang="en-US" sz="1650" dirty="0"/>
          </a:p>
        </p:txBody>
      </p:sp>
      <p:sp>
        <p:nvSpPr>
          <p:cNvPr id="9" name="Text 6"/>
          <p:cNvSpPr/>
          <p:nvPr/>
        </p:nvSpPr>
        <p:spPr>
          <a:xfrm>
            <a:off x="7584281" y="4134803"/>
            <a:ext cx="6303645" cy="342900"/>
          </a:xfrm>
          <a:prstGeom prst="rect">
            <a:avLst/>
          </a:prstGeom>
          <a:noFill/>
          <a:ln/>
        </p:spPr>
        <p:txBody>
          <a:bodyPr wrap="none" lIns="0" tIns="0" rIns="0" bIns="0" rtlCol="0" anchor="t"/>
          <a:lstStyle/>
          <a:p>
            <a:pPr algn="l" marL="342900" indent="-342900">
              <a:lnSpc>
                <a:spcPts val="2700"/>
              </a:lnSpc>
              <a:buSzPct val="100000"/>
              <a:buChar char="•"/>
            </a:pPr>
            <a:r>
              <a:rPr lang="en-US" sz="1650" b="1" dirty="0">
                <a:solidFill>
                  <a:srgbClr val="EBECEF"/>
                </a:solidFill>
                <a:latin typeface="Epilogue" pitchFamily="34" charset="0"/>
                <a:ea typeface="Epilogue" pitchFamily="34" charset="-122"/>
                <a:cs typeface="Epilogue" pitchFamily="34" charset="-120"/>
              </a:rPr>
              <a:t>F1-Score:</a:t>
            </a:r>
            <a:pPr algn="l" indent="0" marL="0">
              <a:lnSpc>
                <a:spcPts val="2700"/>
              </a:lnSpc>
              <a:buNone/>
            </a:pPr>
            <a:r>
              <a:rPr lang="en-US" sz="1650" dirty="0">
                <a:solidFill>
                  <a:srgbClr val="EBECEF"/>
                </a:solidFill>
                <a:latin typeface="Epilogue" pitchFamily="34" charset="0"/>
                <a:ea typeface="Epilogue" pitchFamily="34" charset="-122"/>
                <a:cs typeface="Epilogue" pitchFamily="34" charset="-120"/>
              </a:rPr>
              <a:t> 86% (class 1), 90% (class 0)</a:t>
            </a:r>
            <a:endParaRPr lang="en-US" sz="1650" dirty="0"/>
          </a:p>
        </p:txBody>
      </p:sp>
      <p:sp>
        <p:nvSpPr>
          <p:cNvPr id="10" name="Text 7"/>
          <p:cNvSpPr/>
          <p:nvPr/>
        </p:nvSpPr>
        <p:spPr>
          <a:xfrm>
            <a:off x="7584281" y="4552712"/>
            <a:ext cx="6303645" cy="685800"/>
          </a:xfrm>
          <a:prstGeom prst="rect">
            <a:avLst/>
          </a:prstGeom>
          <a:noFill/>
          <a:ln/>
        </p:spPr>
        <p:txBody>
          <a:bodyPr wrap="square" lIns="0" tIns="0" rIns="0" bIns="0" rtlCol="0" anchor="t"/>
          <a:lstStyle/>
          <a:p>
            <a:pPr algn="l" marL="342900" indent="-342900">
              <a:lnSpc>
                <a:spcPts val="2700"/>
              </a:lnSpc>
              <a:buSzPct val="100000"/>
              <a:buChar char="•"/>
            </a:pPr>
            <a:r>
              <a:rPr lang="en-US" sz="1650" b="1" dirty="0">
                <a:solidFill>
                  <a:srgbClr val="EBECEF"/>
                </a:solidFill>
                <a:latin typeface="Epilogue" pitchFamily="34" charset="0"/>
                <a:ea typeface="Epilogue" pitchFamily="34" charset="-122"/>
                <a:cs typeface="Epilogue" pitchFamily="34" charset="-120"/>
              </a:rPr>
              <a:t>AUC-ROC:</a:t>
            </a:r>
            <a:pPr algn="l" indent="0" marL="0">
              <a:lnSpc>
                <a:spcPts val="2700"/>
              </a:lnSpc>
              <a:buNone/>
            </a:pPr>
            <a:r>
              <a:rPr lang="en-US" sz="1650" dirty="0">
                <a:solidFill>
                  <a:srgbClr val="EBECEF"/>
                </a:solidFill>
                <a:latin typeface="Epilogue" pitchFamily="34" charset="0"/>
                <a:ea typeface="Epilogue" pitchFamily="34" charset="-122"/>
                <a:cs typeface="Epilogue" pitchFamily="34" charset="-120"/>
              </a:rPr>
              <a:t> Not calculated explicitly, but performance was strong based on confusion matrix and F1-score.</a:t>
            </a:r>
            <a:endParaRPr lang="en-US" sz="1650" dirty="0"/>
          </a:p>
        </p:txBody>
      </p:sp>
      <p:sp>
        <p:nvSpPr>
          <p:cNvPr id="11" name="Text 8"/>
          <p:cNvSpPr/>
          <p:nvPr/>
        </p:nvSpPr>
        <p:spPr>
          <a:xfrm>
            <a:off x="7584281" y="5431393"/>
            <a:ext cx="6303645" cy="342900"/>
          </a:xfrm>
          <a:prstGeom prst="rect">
            <a:avLst/>
          </a:prstGeom>
          <a:noFill/>
          <a:ln/>
        </p:spPr>
        <p:txBody>
          <a:bodyPr wrap="none" lIns="0" tIns="0" rIns="0" bIns="0" rtlCol="0" anchor="t"/>
          <a:lstStyle/>
          <a:p>
            <a:pPr algn="l" indent="0" marL="0">
              <a:lnSpc>
                <a:spcPts val="2700"/>
              </a:lnSpc>
              <a:buNone/>
            </a:pPr>
            <a:r>
              <a:rPr lang="en-US" sz="1650" b="1" dirty="0">
                <a:solidFill>
                  <a:srgbClr val="EBECEF"/>
                </a:solidFill>
                <a:latin typeface="Epilogue" pitchFamily="34" charset="0"/>
                <a:ea typeface="Epilogue" pitchFamily="34" charset="-122"/>
                <a:cs typeface="Epilogue" pitchFamily="34" charset="-120"/>
              </a:rPr>
              <a:t>Feature Importance (top 3):</a:t>
            </a:r>
            <a:endParaRPr lang="en-US" sz="1650" dirty="0"/>
          </a:p>
        </p:txBody>
      </p:sp>
      <p:sp>
        <p:nvSpPr>
          <p:cNvPr id="12" name="Text 9"/>
          <p:cNvSpPr/>
          <p:nvPr/>
        </p:nvSpPr>
        <p:spPr>
          <a:xfrm>
            <a:off x="7584281" y="5967174"/>
            <a:ext cx="6303645" cy="342900"/>
          </a:xfrm>
          <a:prstGeom prst="rect">
            <a:avLst/>
          </a:prstGeom>
          <a:noFill/>
          <a:ln/>
        </p:spPr>
        <p:txBody>
          <a:bodyPr wrap="none" lIns="0" tIns="0" rIns="0" bIns="0" rtlCol="0" anchor="t"/>
          <a:lstStyle/>
          <a:p>
            <a:pPr algn="l" marL="342900" indent="-342900">
              <a:lnSpc>
                <a:spcPts val="2700"/>
              </a:lnSpc>
              <a:buSzPct val="100000"/>
              <a:buChar char="•"/>
            </a:pPr>
            <a:r>
              <a:rPr lang="en-US" sz="1650" dirty="0">
                <a:solidFill>
                  <a:srgbClr val="EBECEF"/>
                </a:solidFill>
                <a:latin typeface="Epilogue" pitchFamily="34" charset="0"/>
                <a:ea typeface="Epilogue" pitchFamily="34" charset="-122"/>
                <a:cs typeface="Epilogue" pitchFamily="34" charset="-120"/>
              </a:rPr>
              <a:t>ST depression induced by exercise</a:t>
            </a:r>
            <a:endParaRPr lang="en-US" sz="1650" dirty="0"/>
          </a:p>
        </p:txBody>
      </p:sp>
      <p:sp>
        <p:nvSpPr>
          <p:cNvPr id="13" name="Text 10"/>
          <p:cNvSpPr/>
          <p:nvPr/>
        </p:nvSpPr>
        <p:spPr>
          <a:xfrm>
            <a:off x="7584281" y="6385084"/>
            <a:ext cx="6303645" cy="342900"/>
          </a:xfrm>
          <a:prstGeom prst="rect">
            <a:avLst/>
          </a:prstGeom>
          <a:noFill/>
          <a:ln/>
        </p:spPr>
        <p:txBody>
          <a:bodyPr wrap="none" lIns="0" tIns="0" rIns="0" bIns="0" rtlCol="0" anchor="t"/>
          <a:lstStyle/>
          <a:p>
            <a:pPr algn="l" marL="342900" indent="-342900">
              <a:lnSpc>
                <a:spcPts val="2700"/>
              </a:lnSpc>
              <a:buSzPct val="100000"/>
              <a:buChar char="•"/>
            </a:pPr>
            <a:r>
              <a:rPr lang="en-US" sz="1650" dirty="0">
                <a:solidFill>
                  <a:srgbClr val="EBECEF"/>
                </a:solidFill>
                <a:latin typeface="Epilogue" pitchFamily="34" charset="0"/>
                <a:ea typeface="Epilogue" pitchFamily="34" charset="-122"/>
                <a:cs typeface="Epilogue" pitchFamily="34" charset="-120"/>
              </a:rPr>
              <a:t>Number of major vessels colored by fluoroscopy</a:t>
            </a:r>
            <a:endParaRPr lang="en-US" sz="1650" dirty="0"/>
          </a:p>
        </p:txBody>
      </p:sp>
      <p:sp>
        <p:nvSpPr>
          <p:cNvPr id="14" name="Text 11"/>
          <p:cNvSpPr/>
          <p:nvPr/>
        </p:nvSpPr>
        <p:spPr>
          <a:xfrm>
            <a:off x="7584281" y="6802993"/>
            <a:ext cx="6303645" cy="342900"/>
          </a:xfrm>
          <a:prstGeom prst="rect">
            <a:avLst/>
          </a:prstGeom>
          <a:noFill/>
          <a:ln/>
        </p:spPr>
        <p:txBody>
          <a:bodyPr wrap="none" lIns="0" tIns="0" rIns="0" bIns="0" rtlCol="0" anchor="t"/>
          <a:lstStyle/>
          <a:p>
            <a:pPr algn="l" marL="342900" indent="-342900">
              <a:lnSpc>
                <a:spcPts val="2700"/>
              </a:lnSpc>
              <a:buSzPct val="100000"/>
              <a:buChar char="•"/>
            </a:pPr>
            <a:r>
              <a:rPr lang="en-US" sz="1650" dirty="0">
                <a:solidFill>
                  <a:srgbClr val="EBECEF"/>
                </a:solidFill>
                <a:latin typeface="Epilogue" pitchFamily="34" charset="0"/>
                <a:ea typeface="Epilogue" pitchFamily="34" charset="-122"/>
                <a:cs typeface="Epilogue" pitchFamily="34" charset="-120"/>
              </a:rPr>
              <a:t>Chest pain type</a:t>
            </a:r>
            <a:endParaRPr lang="en-US" sz="1650" dirty="0"/>
          </a:p>
        </p:txBody>
      </p:sp>
      <p:sp>
        <p:nvSpPr>
          <p:cNvPr id="15" name="Text 12"/>
          <p:cNvSpPr/>
          <p:nvPr/>
        </p:nvSpPr>
        <p:spPr>
          <a:xfrm>
            <a:off x="7584281" y="7220903"/>
            <a:ext cx="6303645" cy="342900"/>
          </a:xfrm>
          <a:prstGeom prst="rect">
            <a:avLst/>
          </a:prstGeom>
          <a:noFill/>
          <a:ln/>
        </p:spPr>
        <p:txBody>
          <a:bodyPr wrap="none" lIns="0" tIns="0" rIns="0" bIns="0" rtlCol="0" anchor="t"/>
          <a:lstStyle/>
          <a:p>
            <a:pPr algn="l" marL="342900" indent="-342900">
              <a:lnSpc>
                <a:spcPts val="2700"/>
              </a:lnSpc>
              <a:buSzPct val="100000"/>
              <a:buChar char="•"/>
            </a:pPr>
            <a:r>
              <a:rPr lang="en-US" sz="1650" dirty="0">
                <a:solidFill>
                  <a:srgbClr val="EBECEF"/>
                </a:solidFill>
                <a:latin typeface="Epilogue" pitchFamily="34" charset="0"/>
                <a:ea typeface="Epilogue" pitchFamily="34" charset="-122"/>
                <a:cs typeface="Epilogue" pitchFamily="34" charset="-120"/>
              </a:rPr>
              <a:t>Maximum Heart Rate</a:t>
            </a:r>
            <a:endParaRPr lang="en-US" sz="16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49486" y="649605"/>
            <a:ext cx="5629513" cy="579953"/>
          </a:xfrm>
          <a:prstGeom prst="rect">
            <a:avLst/>
          </a:prstGeom>
          <a:noFill/>
          <a:ln/>
        </p:spPr>
        <p:txBody>
          <a:bodyPr wrap="none" lIns="0" tIns="0" rIns="0" bIns="0" rtlCol="0" anchor="t"/>
          <a:lstStyle/>
          <a:p>
            <a:pPr algn="l" indent="0" marL="0">
              <a:lnSpc>
                <a:spcPts val="4550"/>
              </a:lnSpc>
              <a:buNone/>
            </a:pPr>
            <a:r>
              <a:rPr lang="en-US" sz="3650" dirty="0">
                <a:solidFill>
                  <a:srgbClr val="FFFFFF"/>
                </a:solidFill>
                <a:latin typeface="Fraunces Medium" pitchFamily="34" charset="0"/>
                <a:ea typeface="Fraunces Medium" pitchFamily="34" charset="-122"/>
                <a:cs typeface="Fraunces Medium" pitchFamily="34" charset="-120"/>
              </a:rPr>
              <a:t>Deployment Architecture</a:t>
            </a:r>
            <a:endParaRPr lang="en-US" sz="3650" dirty="0"/>
          </a:p>
        </p:txBody>
      </p:sp>
      <p:sp>
        <p:nvSpPr>
          <p:cNvPr id="3" name="Shape 1"/>
          <p:cNvSpPr/>
          <p:nvPr/>
        </p:nvSpPr>
        <p:spPr>
          <a:xfrm>
            <a:off x="649486" y="1606332"/>
            <a:ext cx="92750" cy="92750"/>
          </a:xfrm>
          <a:prstGeom prst="roundRect">
            <a:avLst>
              <a:gd name="adj" fmla="val 492938"/>
            </a:avLst>
          </a:prstGeom>
          <a:solidFill>
            <a:srgbClr val="8C98CA"/>
          </a:solidFill>
          <a:ln/>
        </p:spPr>
      </p:sp>
      <p:sp>
        <p:nvSpPr>
          <p:cNvPr id="4" name="Text 2"/>
          <p:cNvSpPr/>
          <p:nvPr/>
        </p:nvSpPr>
        <p:spPr>
          <a:xfrm>
            <a:off x="927735" y="1507808"/>
            <a:ext cx="2319576" cy="289917"/>
          </a:xfrm>
          <a:prstGeom prst="rect">
            <a:avLst/>
          </a:prstGeom>
          <a:noFill/>
          <a:ln/>
        </p:spPr>
        <p:txBody>
          <a:bodyPr wrap="none" lIns="0" tIns="0" rIns="0" bIns="0" rtlCol="0" anchor="t"/>
          <a:lstStyle/>
          <a:p>
            <a:pPr algn="l" indent="0" marL="0">
              <a:lnSpc>
                <a:spcPts val="2250"/>
              </a:lnSpc>
              <a:buNone/>
            </a:pPr>
            <a:r>
              <a:rPr lang="en-US" sz="1800" dirty="0">
                <a:solidFill>
                  <a:srgbClr val="EBECEF"/>
                </a:solidFill>
                <a:latin typeface="Fraunces Medium" pitchFamily="34" charset="0"/>
                <a:ea typeface="Fraunces Medium" pitchFamily="34" charset="-122"/>
                <a:cs typeface="Fraunces Medium" pitchFamily="34" charset="-120"/>
              </a:rPr>
              <a:t>Model Packaging</a:t>
            </a:r>
            <a:endParaRPr lang="en-US" sz="1800" dirty="0"/>
          </a:p>
        </p:txBody>
      </p:sp>
      <p:sp>
        <p:nvSpPr>
          <p:cNvPr id="5" name="Text 3"/>
          <p:cNvSpPr/>
          <p:nvPr/>
        </p:nvSpPr>
        <p:spPr>
          <a:xfrm>
            <a:off x="927735" y="1909048"/>
            <a:ext cx="6271498" cy="616744"/>
          </a:xfrm>
          <a:prstGeom prst="rect">
            <a:avLst/>
          </a:prstGeom>
          <a:noFill/>
          <a:ln/>
        </p:spPr>
        <p:txBody>
          <a:bodyPr wrap="square" lIns="0" tIns="0" rIns="0" bIns="0" rtlCol="0" anchor="t"/>
          <a:lstStyle/>
          <a:p>
            <a:pPr algn="l" marL="342900" indent="-342900">
              <a:lnSpc>
                <a:spcPts val="2300"/>
              </a:lnSpc>
              <a:buSzPct val="100000"/>
              <a:buChar char="•"/>
            </a:pPr>
            <a:r>
              <a:rPr lang="en-US" sz="1450" dirty="0">
                <a:solidFill>
                  <a:srgbClr val="EBECEF"/>
                </a:solidFill>
                <a:latin typeface="Epilogue" pitchFamily="34" charset="0"/>
                <a:ea typeface="Epilogue" pitchFamily="34" charset="-122"/>
                <a:cs typeface="Epilogue" pitchFamily="34" charset="-120"/>
              </a:rPr>
              <a:t>The trained ANN model and StandardScaler were saved using </a:t>
            </a:r>
            <a:pPr algn="l" indent="0" marL="0">
              <a:lnSpc>
                <a:spcPts val="2300"/>
              </a:lnSpc>
              <a:buNone/>
            </a:pPr>
            <a:r>
              <a:rPr lang="en-US" sz="1450" dirty="0">
                <a:solidFill>
                  <a:srgbClr val="EBECEF"/>
                </a:solidFill>
                <a:highlight>
                  <a:srgbClr val="151B33"/>
                </a:highlight>
                <a:latin typeface="Consolas" pitchFamily="34" charset="0"/>
                <a:ea typeface="Consolas" pitchFamily="34" charset="-122"/>
                <a:cs typeface="Consolas" pitchFamily="34" charset="-120"/>
              </a:rPr>
              <a:t>pickle</a:t>
            </a:r>
            <a:pPr algn="l" indent="0" marL="0">
              <a:lnSpc>
                <a:spcPts val="2300"/>
              </a:lnSpc>
              <a:buNone/>
            </a:pPr>
            <a:r>
              <a:rPr lang="en-US" sz="1450" dirty="0">
                <a:solidFill>
                  <a:srgbClr val="EBECEF"/>
                </a:solidFill>
                <a:latin typeface="Epilogue" pitchFamily="34" charset="0"/>
                <a:ea typeface="Epilogue" pitchFamily="34" charset="-122"/>
                <a:cs typeface="Epilogue" pitchFamily="34" charset="-120"/>
              </a:rPr>
              <a:t>.</a:t>
            </a:r>
            <a:endParaRPr lang="en-US" sz="1450" dirty="0"/>
          </a:p>
        </p:txBody>
      </p:sp>
      <p:sp>
        <p:nvSpPr>
          <p:cNvPr id="6" name="Text 4"/>
          <p:cNvSpPr/>
          <p:nvPr/>
        </p:nvSpPr>
        <p:spPr>
          <a:xfrm>
            <a:off x="927735" y="2590681"/>
            <a:ext cx="6271498" cy="616744"/>
          </a:xfrm>
          <a:prstGeom prst="rect">
            <a:avLst/>
          </a:prstGeom>
          <a:noFill/>
          <a:ln/>
        </p:spPr>
        <p:txBody>
          <a:bodyPr wrap="square" lIns="0" tIns="0" rIns="0" bIns="0" rtlCol="0" anchor="t"/>
          <a:lstStyle/>
          <a:p>
            <a:pPr algn="l" marL="342900" indent="-342900">
              <a:lnSpc>
                <a:spcPts val="2300"/>
              </a:lnSpc>
              <a:buSzPct val="100000"/>
              <a:buChar char="•"/>
            </a:pPr>
            <a:r>
              <a:rPr lang="en-US" sz="1450" dirty="0">
                <a:solidFill>
                  <a:srgbClr val="EBECEF"/>
                </a:solidFill>
                <a:latin typeface="Epilogue" pitchFamily="34" charset="0"/>
                <a:ea typeface="Epilogue" pitchFamily="34" charset="-122"/>
                <a:cs typeface="Epilogue" pitchFamily="34" charset="-120"/>
              </a:rPr>
              <a:t>All necessary files were version-controlled with a </a:t>
            </a:r>
            <a:pPr algn="l" indent="0" marL="0">
              <a:lnSpc>
                <a:spcPts val="2300"/>
              </a:lnSpc>
              <a:buNone/>
            </a:pPr>
            <a:r>
              <a:rPr lang="en-US" sz="1450" dirty="0">
                <a:solidFill>
                  <a:srgbClr val="EBECEF"/>
                </a:solidFill>
                <a:highlight>
                  <a:srgbClr val="151B33"/>
                </a:highlight>
                <a:latin typeface="Consolas" pitchFamily="34" charset="0"/>
                <a:ea typeface="Consolas" pitchFamily="34" charset="-122"/>
                <a:cs typeface="Consolas" pitchFamily="34" charset="-120"/>
              </a:rPr>
              <a:t>requirements.txt</a:t>
            </a:r>
            <a:pPr algn="l" indent="0" marL="0">
              <a:lnSpc>
                <a:spcPts val="2300"/>
              </a:lnSpc>
              <a:buNone/>
            </a:pPr>
            <a:r>
              <a:rPr lang="en-US" sz="1450" dirty="0">
                <a:solidFill>
                  <a:srgbClr val="EBECEF"/>
                </a:solidFill>
                <a:latin typeface="Epilogue" pitchFamily="34" charset="0"/>
                <a:ea typeface="Epilogue" pitchFamily="34" charset="-122"/>
                <a:cs typeface="Epilogue" pitchFamily="34" charset="-120"/>
              </a:rPr>
              <a:t> for easy installation.</a:t>
            </a:r>
            <a:endParaRPr lang="en-US" sz="1450" dirty="0"/>
          </a:p>
        </p:txBody>
      </p:sp>
      <p:sp>
        <p:nvSpPr>
          <p:cNvPr id="7" name="Text 5"/>
          <p:cNvSpPr/>
          <p:nvPr/>
        </p:nvSpPr>
        <p:spPr>
          <a:xfrm>
            <a:off x="927735" y="3318748"/>
            <a:ext cx="6271498" cy="296942"/>
          </a:xfrm>
          <a:prstGeom prst="rect">
            <a:avLst/>
          </a:prstGeom>
          <a:noFill/>
          <a:ln/>
        </p:spPr>
        <p:txBody>
          <a:bodyPr wrap="none" lIns="0" tIns="0" rIns="0" bIns="0" rtlCol="0" anchor="t"/>
          <a:lstStyle/>
          <a:p>
            <a:pPr algn="l" indent="0" marL="0">
              <a:lnSpc>
                <a:spcPts val="2300"/>
              </a:lnSpc>
              <a:buNone/>
            </a:pPr>
            <a:r>
              <a:rPr lang="en-US" sz="1450" dirty="0">
                <a:solidFill>
                  <a:srgbClr val="EBECEF"/>
                </a:solidFill>
                <a:latin typeface="Epilogue" pitchFamily="34" charset="0"/>
                <a:ea typeface="Epilogue" pitchFamily="34" charset="-122"/>
                <a:cs typeface="Epilogue" pitchFamily="34" charset="-120"/>
              </a:rPr>
              <a:t>    </a:t>
            </a:r>
            <a:endParaRPr lang="en-US" sz="1450" dirty="0"/>
          </a:p>
        </p:txBody>
      </p:sp>
      <p:sp>
        <p:nvSpPr>
          <p:cNvPr id="8" name="Text 6"/>
          <p:cNvSpPr/>
          <p:nvPr/>
        </p:nvSpPr>
        <p:spPr>
          <a:xfrm>
            <a:off x="927735" y="3727013"/>
            <a:ext cx="6271498" cy="296942"/>
          </a:xfrm>
          <a:prstGeom prst="rect">
            <a:avLst/>
          </a:prstGeom>
          <a:noFill/>
          <a:ln/>
        </p:spPr>
        <p:txBody>
          <a:bodyPr wrap="none" lIns="0" tIns="0" rIns="0" bIns="0" rtlCol="0" anchor="t"/>
          <a:lstStyle/>
          <a:p>
            <a:pPr algn="l" indent="0" marL="0">
              <a:lnSpc>
                <a:spcPts val="2300"/>
              </a:lnSpc>
              <a:buNone/>
            </a:pPr>
            <a:endParaRPr lang="en-US" sz="1450" dirty="0"/>
          </a:p>
        </p:txBody>
      </p:sp>
      <p:sp>
        <p:nvSpPr>
          <p:cNvPr id="9" name="Shape 7"/>
          <p:cNvSpPr/>
          <p:nvPr/>
        </p:nvSpPr>
        <p:spPr>
          <a:xfrm>
            <a:off x="7431167" y="1606332"/>
            <a:ext cx="92750" cy="92750"/>
          </a:xfrm>
          <a:prstGeom prst="roundRect">
            <a:avLst>
              <a:gd name="adj" fmla="val 492938"/>
            </a:avLst>
          </a:prstGeom>
          <a:solidFill>
            <a:srgbClr val="8C98CA"/>
          </a:solidFill>
          <a:ln/>
        </p:spPr>
      </p:sp>
      <p:sp>
        <p:nvSpPr>
          <p:cNvPr id="10" name="Text 8"/>
          <p:cNvSpPr/>
          <p:nvPr/>
        </p:nvSpPr>
        <p:spPr>
          <a:xfrm>
            <a:off x="7709416" y="1507808"/>
            <a:ext cx="2319576" cy="289917"/>
          </a:xfrm>
          <a:prstGeom prst="rect">
            <a:avLst/>
          </a:prstGeom>
          <a:noFill/>
          <a:ln/>
        </p:spPr>
        <p:txBody>
          <a:bodyPr wrap="none" lIns="0" tIns="0" rIns="0" bIns="0" rtlCol="0" anchor="t"/>
          <a:lstStyle/>
          <a:p>
            <a:pPr algn="l" indent="0" marL="0">
              <a:lnSpc>
                <a:spcPts val="2250"/>
              </a:lnSpc>
              <a:buNone/>
            </a:pPr>
            <a:r>
              <a:rPr lang="en-US" sz="1800" dirty="0">
                <a:solidFill>
                  <a:srgbClr val="EBECEF"/>
                </a:solidFill>
                <a:latin typeface="Fraunces Medium" pitchFamily="34" charset="0"/>
                <a:ea typeface="Fraunces Medium" pitchFamily="34" charset="-122"/>
                <a:cs typeface="Fraunces Medium" pitchFamily="34" charset="-120"/>
              </a:rPr>
              <a:t>API Development</a:t>
            </a:r>
            <a:endParaRPr lang="en-US" sz="1800" dirty="0"/>
          </a:p>
        </p:txBody>
      </p:sp>
      <p:sp>
        <p:nvSpPr>
          <p:cNvPr id="11" name="Text 9"/>
          <p:cNvSpPr/>
          <p:nvPr/>
        </p:nvSpPr>
        <p:spPr>
          <a:xfrm>
            <a:off x="7709416" y="1909048"/>
            <a:ext cx="6271498" cy="296942"/>
          </a:xfrm>
          <a:prstGeom prst="rect">
            <a:avLst/>
          </a:prstGeom>
          <a:noFill/>
          <a:ln/>
        </p:spPr>
        <p:txBody>
          <a:bodyPr wrap="none" lIns="0" tIns="0" rIns="0" bIns="0" rtlCol="0" anchor="t"/>
          <a:lstStyle/>
          <a:p>
            <a:pPr algn="l" marL="342900" indent="-342900">
              <a:lnSpc>
                <a:spcPts val="2300"/>
              </a:lnSpc>
              <a:buSzPct val="100000"/>
              <a:buChar char="•"/>
            </a:pPr>
            <a:r>
              <a:rPr lang="en-US" sz="1450" dirty="0">
                <a:solidFill>
                  <a:srgbClr val="EBECEF"/>
                </a:solidFill>
                <a:latin typeface="Epilogue" pitchFamily="34" charset="0"/>
                <a:ea typeface="Epilogue" pitchFamily="34" charset="-122"/>
                <a:cs typeface="Epilogue" pitchFamily="34" charset="-120"/>
              </a:rPr>
              <a:t>Logic was directly integrated into the Streamlit app.</a:t>
            </a:r>
            <a:endParaRPr lang="en-US" sz="1450" dirty="0"/>
          </a:p>
        </p:txBody>
      </p:sp>
      <p:sp>
        <p:nvSpPr>
          <p:cNvPr id="12" name="Text 10"/>
          <p:cNvSpPr/>
          <p:nvPr/>
        </p:nvSpPr>
        <p:spPr>
          <a:xfrm>
            <a:off x="7709416" y="2270879"/>
            <a:ext cx="6271498" cy="593884"/>
          </a:xfrm>
          <a:prstGeom prst="rect">
            <a:avLst/>
          </a:prstGeom>
          <a:noFill/>
          <a:ln/>
        </p:spPr>
        <p:txBody>
          <a:bodyPr wrap="square" lIns="0" tIns="0" rIns="0" bIns="0" rtlCol="0" anchor="t"/>
          <a:lstStyle/>
          <a:p>
            <a:pPr algn="l" marL="342900" indent="-342900">
              <a:lnSpc>
                <a:spcPts val="2300"/>
              </a:lnSpc>
              <a:buSzPct val="100000"/>
              <a:buChar char="•"/>
            </a:pPr>
            <a:r>
              <a:rPr lang="en-US" sz="1450" dirty="0">
                <a:solidFill>
                  <a:srgbClr val="EBECEF"/>
                </a:solidFill>
                <a:latin typeface="Epilogue" pitchFamily="34" charset="0"/>
                <a:ea typeface="Epilogue" pitchFamily="34" charset="-122"/>
                <a:cs typeface="Epilogue" pitchFamily="34" charset="-120"/>
              </a:rPr>
              <a:t>This eliminated the need for separate REST APIs, simplifying deployment.</a:t>
            </a:r>
            <a:endParaRPr lang="en-US" sz="1450" dirty="0"/>
          </a:p>
        </p:txBody>
      </p:sp>
      <p:sp>
        <p:nvSpPr>
          <p:cNvPr id="13" name="Text 11"/>
          <p:cNvSpPr/>
          <p:nvPr/>
        </p:nvSpPr>
        <p:spPr>
          <a:xfrm>
            <a:off x="7709416" y="2976086"/>
            <a:ext cx="6271498" cy="296942"/>
          </a:xfrm>
          <a:prstGeom prst="rect">
            <a:avLst/>
          </a:prstGeom>
          <a:noFill/>
          <a:ln/>
        </p:spPr>
        <p:txBody>
          <a:bodyPr wrap="none" lIns="0" tIns="0" rIns="0" bIns="0" rtlCol="0" anchor="t"/>
          <a:lstStyle/>
          <a:p>
            <a:pPr algn="l" indent="0" marL="0">
              <a:lnSpc>
                <a:spcPts val="2300"/>
              </a:lnSpc>
              <a:buNone/>
            </a:pPr>
            <a:r>
              <a:rPr lang="en-US" sz="1450" dirty="0">
                <a:solidFill>
                  <a:srgbClr val="EBECEF"/>
                </a:solidFill>
                <a:latin typeface="Epilogue" pitchFamily="34" charset="0"/>
                <a:ea typeface="Epilogue" pitchFamily="34" charset="-122"/>
                <a:cs typeface="Epilogue" pitchFamily="34" charset="-120"/>
              </a:rPr>
              <a:t>    </a:t>
            </a:r>
            <a:endParaRPr lang="en-US" sz="1450" dirty="0"/>
          </a:p>
        </p:txBody>
      </p:sp>
      <p:sp>
        <p:nvSpPr>
          <p:cNvPr id="14" name="Text 12"/>
          <p:cNvSpPr/>
          <p:nvPr/>
        </p:nvSpPr>
        <p:spPr>
          <a:xfrm>
            <a:off x="7709416" y="3384352"/>
            <a:ext cx="6271498" cy="296942"/>
          </a:xfrm>
          <a:prstGeom prst="rect">
            <a:avLst/>
          </a:prstGeom>
          <a:noFill/>
          <a:ln/>
        </p:spPr>
        <p:txBody>
          <a:bodyPr wrap="none" lIns="0" tIns="0" rIns="0" bIns="0" rtlCol="0" anchor="t"/>
          <a:lstStyle/>
          <a:p>
            <a:pPr algn="l" indent="0" marL="0">
              <a:lnSpc>
                <a:spcPts val="2300"/>
              </a:lnSpc>
              <a:buNone/>
            </a:pPr>
            <a:endParaRPr lang="en-US" sz="1450" dirty="0"/>
          </a:p>
        </p:txBody>
      </p:sp>
      <p:sp>
        <p:nvSpPr>
          <p:cNvPr id="15" name="Shape 13"/>
          <p:cNvSpPr/>
          <p:nvPr/>
        </p:nvSpPr>
        <p:spPr>
          <a:xfrm>
            <a:off x="649486" y="4493597"/>
            <a:ext cx="92750" cy="92750"/>
          </a:xfrm>
          <a:prstGeom prst="roundRect">
            <a:avLst>
              <a:gd name="adj" fmla="val 492938"/>
            </a:avLst>
          </a:prstGeom>
          <a:solidFill>
            <a:srgbClr val="8C98CA"/>
          </a:solidFill>
          <a:ln/>
        </p:spPr>
      </p:sp>
      <p:sp>
        <p:nvSpPr>
          <p:cNvPr id="16" name="Text 14"/>
          <p:cNvSpPr/>
          <p:nvPr/>
        </p:nvSpPr>
        <p:spPr>
          <a:xfrm>
            <a:off x="927735" y="4395073"/>
            <a:ext cx="2319576" cy="289917"/>
          </a:xfrm>
          <a:prstGeom prst="rect">
            <a:avLst/>
          </a:prstGeom>
          <a:noFill/>
          <a:ln/>
        </p:spPr>
        <p:txBody>
          <a:bodyPr wrap="none" lIns="0" tIns="0" rIns="0" bIns="0" rtlCol="0" anchor="t"/>
          <a:lstStyle/>
          <a:p>
            <a:pPr algn="l" indent="0" marL="0">
              <a:lnSpc>
                <a:spcPts val="2250"/>
              </a:lnSpc>
              <a:buNone/>
            </a:pPr>
            <a:r>
              <a:rPr lang="en-US" sz="1800" dirty="0">
                <a:solidFill>
                  <a:srgbClr val="EBECEF"/>
                </a:solidFill>
                <a:latin typeface="Fraunces Medium" pitchFamily="34" charset="0"/>
                <a:ea typeface="Fraunces Medium" pitchFamily="34" charset="-122"/>
                <a:cs typeface="Fraunces Medium" pitchFamily="34" charset="-120"/>
              </a:rPr>
              <a:t>Cloud Deployment</a:t>
            </a:r>
            <a:endParaRPr lang="en-US" sz="1800" dirty="0"/>
          </a:p>
        </p:txBody>
      </p:sp>
      <p:sp>
        <p:nvSpPr>
          <p:cNvPr id="17" name="Text 15"/>
          <p:cNvSpPr/>
          <p:nvPr/>
        </p:nvSpPr>
        <p:spPr>
          <a:xfrm>
            <a:off x="927735" y="4796314"/>
            <a:ext cx="6271498" cy="296942"/>
          </a:xfrm>
          <a:prstGeom prst="rect">
            <a:avLst/>
          </a:prstGeom>
          <a:noFill/>
          <a:ln/>
        </p:spPr>
        <p:txBody>
          <a:bodyPr wrap="none" lIns="0" tIns="0" rIns="0" bIns="0" rtlCol="0" anchor="t"/>
          <a:lstStyle/>
          <a:p>
            <a:pPr algn="l" marL="342900" indent="-342900">
              <a:lnSpc>
                <a:spcPts val="2300"/>
              </a:lnSpc>
              <a:buSzPct val="100000"/>
              <a:buChar char="•"/>
            </a:pPr>
            <a:r>
              <a:rPr lang="en-US" sz="1450" dirty="0">
                <a:solidFill>
                  <a:srgbClr val="EBECEF"/>
                </a:solidFill>
                <a:latin typeface="Epilogue" pitchFamily="34" charset="0"/>
                <a:ea typeface="Epilogue" pitchFamily="34" charset="-122"/>
                <a:cs typeface="Epilogue" pitchFamily="34" charset="-120"/>
              </a:rPr>
              <a:t>Streamlit Cloud was used to host the app by linking with GitHub.</a:t>
            </a:r>
            <a:endParaRPr lang="en-US" sz="1450" dirty="0"/>
          </a:p>
        </p:txBody>
      </p:sp>
      <p:sp>
        <p:nvSpPr>
          <p:cNvPr id="18" name="Text 16"/>
          <p:cNvSpPr/>
          <p:nvPr/>
        </p:nvSpPr>
        <p:spPr>
          <a:xfrm>
            <a:off x="927735" y="5158145"/>
            <a:ext cx="6271498" cy="593884"/>
          </a:xfrm>
          <a:prstGeom prst="rect">
            <a:avLst/>
          </a:prstGeom>
          <a:noFill/>
          <a:ln/>
        </p:spPr>
        <p:txBody>
          <a:bodyPr wrap="square" lIns="0" tIns="0" rIns="0" bIns="0" rtlCol="0" anchor="t"/>
          <a:lstStyle/>
          <a:p>
            <a:pPr algn="l" marL="342900" indent="-342900">
              <a:lnSpc>
                <a:spcPts val="2300"/>
              </a:lnSpc>
              <a:buSzPct val="100000"/>
              <a:buChar char="•"/>
            </a:pPr>
            <a:r>
              <a:rPr lang="en-US" sz="1450" dirty="0">
                <a:solidFill>
                  <a:srgbClr val="EBECEF"/>
                </a:solidFill>
                <a:latin typeface="Epilogue" pitchFamily="34" charset="0"/>
                <a:ea typeface="Epilogue" pitchFamily="34" charset="-122"/>
                <a:cs typeface="Epilogue" pitchFamily="34" charset="-120"/>
              </a:rPr>
              <a:t>On pushing code, the app automatically built and deployed with public access.</a:t>
            </a:r>
            <a:endParaRPr lang="en-US" sz="1450" dirty="0"/>
          </a:p>
        </p:txBody>
      </p:sp>
      <p:sp>
        <p:nvSpPr>
          <p:cNvPr id="19" name="Text 17"/>
          <p:cNvSpPr/>
          <p:nvPr/>
        </p:nvSpPr>
        <p:spPr>
          <a:xfrm>
            <a:off x="927735" y="5863352"/>
            <a:ext cx="6271498" cy="296942"/>
          </a:xfrm>
          <a:prstGeom prst="rect">
            <a:avLst/>
          </a:prstGeom>
          <a:noFill/>
          <a:ln/>
        </p:spPr>
        <p:txBody>
          <a:bodyPr wrap="none" lIns="0" tIns="0" rIns="0" bIns="0" rtlCol="0" anchor="t"/>
          <a:lstStyle/>
          <a:p>
            <a:pPr algn="l" indent="0" marL="0">
              <a:lnSpc>
                <a:spcPts val="2300"/>
              </a:lnSpc>
              <a:buNone/>
            </a:pPr>
            <a:endParaRPr lang="en-US" sz="1450" dirty="0"/>
          </a:p>
        </p:txBody>
      </p:sp>
      <p:sp>
        <p:nvSpPr>
          <p:cNvPr id="20" name="Text 18"/>
          <p:cNvSpPr/>
          <p:nvPr/>
        </p:nvSpPr>
        <p:spPr>
          <a:xfrm>
            <a:off x="927735" y="6271617"/>
            <a:ext cx="6271498" cy="296942"/>
          </a:xfrm>
          <a:prstGeom prst="rect">
            <a:avLst/>
          </a:prstGeom>
          <a:noFill/>
          <a:ln/>
        </p:spPr>
        <p:txBody>
          <a:bodyPr wrap="none" lIns="0" tIns="0" rIns="0" bIns="0" rtlCol="0" anchor="t"/>
          <a:lstStyle/>
          <a:p>
            <a:pPr algn="l" indent="0" marL="0">
              <a:lnSpc>
                <a:spcPts val="2300"/>
              </a:lnSpc>
              <a:buNone/>
            </a:pPr>
            <a:endParaRPr lang="en-US" sz="1450" dirty="0"/>
          </a:p>
        </p:txBody>
      </p:sp>
      <p:sp>
        <p:nvSpPr>
          <p:cNvPr id="21" name="Shape 19"/>
          <p:cNvSpPr/>
          <p:nvPr/>
        </p:nvSpPr>
        <p:spPr>
          <a:xfrm>
            <a:off x="7431167" y="4493597"/>
            <a:ext cx="92750" cy="92750"/>
          </a:xfrm>
          <a:prstGeom prst="roundRect">
            <a:avLst>
              <a:gd name="adj" fmla="val 492938"/>
            </a:avLst>
          </a:prstGeom>
          <a:solidFill>
            <a:srgbClr val="8C98CA"/>
          </a:solidFill>
          <a:ln/>
        </p:spPr>
      </p:sp>
      <p:sp>
        <p:nvSpPr>
          <p:cNvPr id="22" name="Text 20"/>
          <p:cNvSpPr/>
          <p:nvPr/>
        </p:nvSpPr>
        <p:spPr>
          <a:xfrm>
            <a:off x="7709416" y="4395073"/>
            <a:ext cx="2319576" cy="289917"/>
          </a:xfrm>
          <a:prstGeom prst="rect">
            <a:avLst/>
          </a:prstGeom>
          <a:noFill/>
          <a:ln/>
        </p:spPr>
        <p:txBody>
          <a:bodyPr wrap="none" lIns="0" tIns="0" rIns="0" bIns="0" rtlCol="0" anchor="t"/>
          <a:lstStyle/>
          <a:p>
            <a:pPr algn="l" indent="0" marL="0">
              <a:lnSpc>
                <a:spcPts val="2250"/>
              </a:lnSpc>
              <a:buNone/>
            </a:pPr>
            <a:r>
              <a:rPr lang="en-US" sz="1800" dirty="0">
                <a:solidFill>
                  <a:srgbClr val="EBECEF"/>
                </a:solidFill>
                <a:latin typeface="Fraunces Medium" pitchFamily="34" charset="0"/>
                <a:ea typeface="Fraunces Medium" pitchFamily="34" charset="-122"/>
                <a:cs typeface="Fraunces Medium" pitchFamily="34" charset="-120"/>
              </a:rPr>
              <a:t>Web Interface</a:t>
            </a:r>
            <a:endParaRPr lang="en-US" sz="1800" dirty="0"/>
          </a:p>
        </p:txBody>
      </p:sp>
      <p:sp>
        <p:nvSpPr>
          <p:cNvPr id="23" name="Text 21"/>
          <p:cNvSpPr/>
          <p:nvPr/>
        </p:nvSpPr>
        <p:spPr>
          <a:xfrm>
            <a:off x="7709416" y="4796314"/>
            <a:ext cx="6271498" cy="296942"/>
          </a:xfrm>
          <a:prstGeom prst="rect">
            <a:avLst/>
          </a:prstGeom>
          <a:noFill/>
          <a:ln/>
        </p:spPr>
        <p:txBody>
          <a:bodyPr wrap="none" lIns="0" tIns="0" rIns="0" bIns="0" rtlCol="0" anchor="t"/>
          <a:lstStyle/>
          <a:p>
            <a:pPr algn="l" marL="342900" indent="-342900">
              <a:lnSpc>
                <a:spcPts val="2300"/>
              </a:lnSpc>
              <a:buSzPct val="100000"/>
              <a:buChar char="•"/>
            </a:pPr>
            <a:r>
              <a:rPr lang="en-US" sz="1450" dirty="0">
                <a:solidFill>
                  <a:srgbClr val="EBECEF"/>
                </a:solidFill>
                <a:latin typeface="Epilogue" pitchFamily="34" charset="0"/>
                <a:ea typeface="Epilogue" pitchFamily="34" charset="-122"/>
                <a:cs typeface="Epilogue" pitchFamily="34" charset="-120"/>
              </a:rPr>
              <a:t>User inputs are captured via a clean and simple Streamlit UI.</a:t>
            </a:r>
            <a:endParaRPr lang="en-US" sz="1450" dirty="0"/>
          </a:p>
        </p:txBody>
      </p:sp>
      <p:sp>
        <p:nvSpPr>
          <p:cNvPr id="24" name="Text 22"/>
          <p:cNvSpPr/>
          <p:nvPr/>
        </p:nvSpPr>
        <p:spPr>
          <a:xfrm>
            <a:off x="7709416" y="5158145"/>
            <a:ext cx="6271498" cy="296942"/>
          </a:xfrm>
          <a:prstGeom prst="rect">
            <a:avLst/>
          </a:prstGeom>
          <a:noFill/>
          <a:ln/>
        </p:spPr>
        <p:txBody>
          <a:bodyPr wrap="none" lIns="0" tIns="0" rIns="0" bIns="0" rtlCol="0" anchor="t"/>
          <a:lstStyle/>
          <a:p>
            <a:pPr algn="l" marL="342900" indent="-342900">
              <a:lnSpc>
                <a:spcPts val="2300"/>
              </a:lnSpc>
              <a:buSzPct val="100000"/>
              <a:buChar char="•"/>
            </a:pPr>
            <a:r>
              <a:rPr lang="en-US" sz="1450" dirty="0">
                <a:solidFill>
                  <a:srgbClr val="EBECEF"/>
                </a:solidFill>
                <a:latin typeface="Epilogue" pitchFamily="34" charset="0"/>
                <a:ea typeface="Epilogue" pitchFamily="34" charset="-122"/>
                <a:cs typeface="Epilogue" pitchFamily="34" charset="-120"/>
              </a:rPr>
              <a:t>Results are shown immediately on-screen in a friendly format.</a:t>
            </a:r>
            <a:endParaRPr lang="en-US" sz="1450" dirty="0"/>
          </a:p>
        </p:txBody>
      </p:sp>
      <p:sp>
        <p:nvSpPr>
          <p:cNvPr id="25" name="Text 23"/>
          <p:cNvSpPr/>
          <p:nvPr/>
        </p:nvSpPr>
        <p:spPr>
          <a:xfrm>
            <a:off x="7709416" y="5566410"/>
            <a:ext cx="6271498" cy="296942"/>
          </a:xfrm>
          <a:prstGeom prst="rect">
            <a:avLst/>
          </a:prstGeom>
          <a:noFill/>
          <a:ln/>
        </p:spPr>
        <p:txBody>
          <a:bodyPr wrap="none" lIns="0" tIns="0" rIns="0" bIns="0" rtlCol="0" anchor="t"/>
          <a:lstStyle/>
          <a:p>
            <a:pPr algn="l" indent="0" marL="0">
              <a:lnSpc>
                <a:spcPts val="2300"/>
              </a:lnSpc>
              <a:buNone/>
            </a:pPr>
            <a:endParaRPr lang="en-US" sz="1450" dirty="0"/>
          </a:p>
        </p:txBody>
      </p:sp>
      <p:sp>
        <p:nvSpPr>
          <p:cNvPr id="26" name="Text 24"/>
          <p:cNvSpPr/>
          <p:nvPr/>
        </p:nvSpPr>
        <p:spPr>
          <a:xfrm>
            <a:off x="7709416" y="5974675"/>
            <a:ext cx="6271498" cy="296942"/>
          </a:xfrm>
          <a:prstGeom prst="rect">
            <a:avLst/>
          </a:prstGeom>
          <a:noFill/>
          <a:ln/>
        </p:spPr>
        <p:txBody>
          <a:bodyPr wrap="none" lIns="0" tIns="0" rIns="0" bIns="0" rtlCol="0" anchor="t"/>
          <a:lstStyle/>
          <a:p>
            <a:pPr algn="l" indent="0" marL="0">
              <a:lnSpc>
                <a:spcPts val="2300"/>
              </a:lnSpc>
              <a:buNone/>
            </a:pPr>
            <a:endParaRPr lang="en-US" sz="1450" dirty="0"/>
          </a:p>
        </p:txBody>
      </p:sp>
      <p:sp>
        <p:nvSpPr>
          <p:cNvPr id="27" name="Text 25"/>
          <p:cNvSpPr/>
          <p:nvPr/>
        </p:nvSpPr>
        <p:spPr>
          <a:xfrm>
            <a:off x="649486" y="6777276"/>
            <a:ext cx="13331428" cy="296942"/>
          </a:xfrm>
          <a:prstGeom prst="rect">
            <a:avLst/>
          </a:prstGeom>
          <a:noFill/>
          <a:ln/>
        </p:spPr>
        <p:txBody>
          <a:bodyPr wrap="none" lIns="0" tIns="0" rIns="0" bIns="0" rtlCol="0" anchor="t"/>
          <a:lstStyle/>
          <a:p>
            <a:pPr algn="l" indent="0" marL="0">
              <a:lnSpc>
                <a:spcPts val="2300"/>
              </a:lnSpc>
              <a:buNone/>
            </a:pPr>
            <a:endParaRPr lang="en-US" sz="1450" dirty="0"/>
          </a:p>
        </p:txBody>
      </p:sp>
      <p:sp>
        <p:nvSpPr>
          <p:cNvPr id="28" name="Text 26"/>
          <p:cNvSpPr/>
          <p:nvPr/>
        </p:nvSpPr>
        <p:spPr>
          <a:xfrm>
            <a:off x="649486" y="7282934"/>
            <a:ext cx="13331428" cy="296942"/>
          </a:xfrm>
          <a:prstGeom prst="rect">
            <a:avLst/>
          </a:prstGeom>
          <a:noFill/>
          <a:ln/>
        </p:spPr>
        <p:txBody>
          <a:bodyPr wrap="none" lIns="0" tIns="0" rIns="0" bIns="0" rtlCol="0" anchor="t"/>
          <a:lstStyle/>
          <a:p>
            <a:pPr algn="l" indent="0" marL="0">
              <a:lnSpc>
                <a:spcPts val="2300"/>
              </a:lnSpc>
              <a:buNone/>
            </a:pPr>
            <a:r>
              <a:rPr lang="en-US" sz="1450" dirty="0">
                <a:solidFill>
                  <a:srgbClr val="EBECEF"/>
                </a:solidFill>
                <a:latin typeface="Epilogue" pitchFamily="34" charset="0"/>
                <a:ea typeface="Epilogue" pitchFamily="34" charset="-122"/>
                <a:cs typeface="Epilogue" pitchFamily="34" charset="-120"/>
              </a:rPr>
              <a:t> </a:t>
            </a:r>
            <a:endParaRPr lang="en-US"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56642" y="767477"/>
            <a:ext cx="5915263" cy="675680"/>
          </a:xfrm>
          <a:prstGeom prst="rect">
            <a:avLst/>
          </a:prstGeom>
          <a:noFill/>
          <a:ln/>
        </p:spPr>
        <p:txBody>
          <a:bodyPr wrap="none" lIns="0" tIns="0" rIns="0" bIns="0" rtlCol="0" anchor="t"/>
          <a:lstStyle/>
          <a:p>
            <a:pPr algn="l" indent="0" marL="0">
              <a:lnSpc>
                <a:spcPts val="5300"/>
              </a:lnSpc>
              <a:buNone/>
            </a:pPr>
            <a:r>
              <a:rPr lang="en-US" sz="4250" dirty="0">
                <a:solidFill>
                  <a:srgbClr val="FFFFFF"/>
                </a:solidFill>
                <a:latin typeface="Fraunces Medium" pitchFamily="34" charset="0"/>
                <a:ea typeface="Fraunces Medium" pitchFamily="34" charset="-122"/>
                <a:cs typeface="Fraunces Medium" pitchFamily="34" charset="-120"/>
              </a:rPr>
              <a:t>Challenges &amp; Solutions</a:t>
            </a:r>
            <a:endParaRPr lang="en-US" sz="4250" dirty="0"/>
          </a:p>
        </p:txBody>
      </p:sp>
      <p:sp>
        <p:nvSpPr>
          <p:cNvPr id="3" name="Shape 1"/>
          <p:cNvSpPr/>
          <p:nvPr/>
        </p:nvSpPr>
        <p:spPr>
          <a:xfrm>
            <a:off x="756642" y="1875473"/>
            <a:ext cx="4228267" cy="5586651"/>
          </a:xfrm>
          <a:prstGeom prst="roundRect">
            <a:avLst>
              <a:gd name="adj" fmla="val 3460"/>
            </a:avLst>
          </a:prstGeom>
          <a:solidFill>
            <a:srgbClr val="080E26"/>
          </a:solidFill>
          <a:ln w="30480">
            <a:solidFill>
              <a:srgbClr val="414A70"/>
            </a:solidFill>
            <a:prstDash val="solid"/>
          </a:ln>
        </p:spPr>
      </p:sp>
      <p:sp>
        <p:nvSpPr>
          <p:cNvPr id="4" name="Shape 2"/>
          <p:cNvSpPr/>
          <p:nvPr/>
        </p:nvSpPr>
        <p:spPr>
          <a:xfrm>
            <a:off x="726162" y="1875473"/>
            <a:ext cx="121920" cy="5586651"/>
          </a:xfrm>
          <a:prstGeom prst="roundRect">
            <a:avLst>
              <a:gd name="adj" fmla="val 74484"/>
            </a:avLst>
          </a:prstGeom>
          <a:solidFill>
            <a:srgbClr val="8C98CA"/>
          </a:solidFill>
          <a:ln/>
        </p:spPr>
      </p:sp>
      <p:sp>
        <p:nvSpPr>
          <p:cNvPr id="5" name="Text 3"/>
          <p:cNvSpPr/>
          <p:nvPr/>
        </p:nvSpPr>
        <p:spPr>
          <a:xfrm>
            <a:off x="1094661" y="2122051"/>
            <a:ext cx="2702600" cy="337780"/>
          </a:xfrm>
          <a:prstGeom prst="rect">
            <a:avLst/>
          </a:prstGeom>
          <a:noFill/>
          <a:ln/>
        </p:spPr>
        <p:txBody>
          <a:bodyPr wrap="none" lIns="0" tIns="0" rIns="0" bIns="0" rtlCol="0" anchor="t"/>
          <a:lstStyle/>
          <a:p>
            <a:pPr algn="l" indent="0" marL="0">
              <a:lnSpc>
                <a:spcPts val="2650"/>
              </a:lnSpc>
              <a:buNone/>
            </a:pPr>
            <a:r>
              <a:rPr lang="en-US" sz="2100" dirty="0">
                <a:solidFill>
                  <a:srgbClr val="EBECEF"/>
                </a:solidFill>
                <a:latin typeface="Fraunces Medium" pitchFamily="34" charset="0"/>
                <a:ea typeface="Fraunces Medium" pitchFamily="34" charset="-122"/>
                <a:cs typeface="Fraunces Medium" pitchFamily="34" charset="-120"/>
              </a:rPr>
              <a:t>Data Quality Issues</a:t>
            </a:r>
            <a:endParaRPr lang="en-US" sz="2100" dirty="0"/>
          </a:p>
        </p:txBody>
      </p:sp>
      <p:sp>
        <p:nvSpPr>
          <p:cNvPr id="6" name="Text 4"/>
          <p:cNvSpPr/>
          <p:nvPr/>
        </p:nvSpPr>
        <p:spPr>
          <a:xfrm>
            <a:off x="1094661" y="2589490"/>
            <a:ext cx="3643670" cy="1729383"/>
          </a:xfrm>
          <a:prstGeom prst="rect">
            <a:avLst/>
          </a:prstGeom>
          <a:noFill/>
          <a:ln/>
        </p:spPr>
        <p:txBody>
          <a:bodyPr wrap="square" lIns="0" tIns="0" rIns="0" bIns="0" rtlCol="0" anchor="t"/>
          <a:lstStyle/>
          <a:p>
            <a:pPr algn="l" indent="0" marL="0">
              <a:lnSpc>
                <a:spcPts val="2700"/>
              </a:lnSpc>
              <a:buNone/>
            </a:pPr>
            <a:r>
              <a:rPr lang="en-US" sz="1700" b="1" dirty="0">
                <a:solidFill>
                  <a:srgbClr val="EBECEF"/>
                </a:solidFill>
                <a:latin typeface="Epilogue" pitchFamily="34" charset="0"/>
                <a:ea typeface="Epilogue" pitchFamily="34" charset="-122"/>
                <a:cs typeface="Epilogue" pitchFamily="34" charset="-120"/>
              </a:rPr>
              <a:t>Challenge:</a:t>
            </a:r>
            <a:pPr algn="l" indent="0" marL="0">
              <a:lnSpc>
                <a:spcPts val="2700"/>
              </a:lnSpc>
              <a:buNone/>
            </a:pPr>
            <a:r>
              <a:rPr lang="en-US" sz="1700" dirty="0">
                <a:solidFill>
                  <a:srgbClr val="EBECEF"/>
                </a:solidFill>
                <a:latin typeface="Epilogue" pitchFamily="34" charset="0"/>
                <a:ea typeface="Epilogue" pitchFamily="34" charset="-122"/>
                <a:cs typeface="Epilogue" pitchFamily="34" charset="-120"/>
              </a:rPr>
              <a:t> Skewed distributions observed in features like cholesterol and resting blood pressure, which could negatively impact model performance.</a:t>
            </a:r>
            <a:endParaRPr lang="en-US" sz="1700" dirty="0"/>
          </a:p>
        </p:txBody>
      </p:sp>
      <p:sp>
        <p:nvSpPr>
          <p:cNvPr id="7" name="Text 5"/>
          <p:cNvSpPr/>
          <p:nvPr/>
        </p:nvSpPr>
        <p:spPr>
          <a:xfrm>
            <a:off x="1094661" y="4448532"/>
            <a:ext cx="3643670" cy="2421136"/>
          </a:xfrm>
          <a:prstGeom prst="rect">
            <a:avLst/>
          </a:prstGeom>
          <a:noFill/>
          <a:ln/>
        </p:spPr>
        <p:txBody>
          <a:bodyPr wrap="square" lIns="0" tIns="0" rIns="0" bIns="0" rtlCol="0" anchor="t"/>
          <a:lstStyle/>
          <a:p>
            <a:pPr algn="l" indent="0" marL="0">
              <a:lnSpc>
                <a:spcPts val="2700"/>
              </a:lnSpc>
              <a:buNone/>
            </a:pPr>
            <a:r>
              <a:rPr lang="en-US" sz="1700" b="1" dirty="0">
                <a:solidFill>
                  <a:srgbClr val="EBECEF"/>
                </a:solidFill>
                <a:latin typeface="Epilogue" pitchFamily="34" charset="0"/>
                <a:ea typeface="Epilogue" pitchFamily="34" charset="-122"/>
                <a:cs typeface="Epilogue" pitchFamily="34" charset="-120"/>
              </a:rPr>
              <a:t>Solution:</a:t>
            </a:r>
            <a:pPr algn="l" indent="0" marL="0">
              <a:lnSpc>
                <a:spcPts val="2700"/>
              </a:lnSpc>
              <a:buNone/>
            </a:pPr>
            <a:r>
              <a:rPr lang="en-US" sz="1700" dirty="0">
                <a:solidFill>
                  <a:srgbClr val="EBECEF"/>
                </a:solidFill>
                <a:latin typeface="Epilogue" pitchFamily="34" charset="0"/>
                <a:ea typeface="Epilogue" pitchFamily="34" charset="-122"/>
                <a:cs typeface="Epilogue" pitchFamily="34" charset="-120"/>
              </a:rPr>
              <a:t> Applied </a:t>
            </a:r>
            <a:pPr algn="l" indent="0" marL="0">
              <a:lnSpc>
                <a:spcPts val="2700"/>
              </a:lnSpc>
              <a:buNone/>
            </a:pPr>
            <a:r>
              <a:rPr lang="en-US" sz="1700" b="1" dirty="0">
                <a:solidFill>
                  <a:srgbClr val="EBECEF"/>
                </a:solidFill>
                <a:latin typeface="Epilogue" pitchFamily="34" charset="0"/>
                <a:ea typeface="Epilogue" pitchFamily="34" charset="-122"/>
                <a:cs typeface="Epilogue" pitchFamily="34" charset="-120"/>
              </a:rPr>
              <a:t>log transformation</a:t>
            </a:r>
            <a:pPr algn="l" indent="0" marL="0">
              <a:lnSpc>
                <a:spcPts val="2700"/>
              </a:lnSpc>
              <a:buNone/>
            </a:pPr>
            <a:r>
              <a:rPr lang="en-US" sz="1700" dirty="0">
                <a:solidFill>
                  <a:srgbClr val="EBECEF"/>
                </a:solidFill>
                <a:latin typeface="Epilogue" pitchFamily="34" charset="0"/>
                <a:ea typeface="Epilogue" pitchFamily="34" charset="-122"/>
                <a:cs typeface="Epilogue" pitchFamily="34" charset="-120"/>
              </a:rPr>
              <a:t> to normalize skewed features and improve model stability. Verified that there were </a:t>
            </a:r>
            <a:pPr algn="l" indent="0" marL="0">
              <a:lnSpc>
                <a:spcPts val="2700"/>
              </a:lnSpc>
              <a:buNone/>
            </a:pPr>
            <a:r>
              <a:rPr lang="en-US" sz="1700" b="1" dirty="0">
                <a:solidFill>
                  <a:srgbClr val="EBECEF"/>
                </a:solidFill>
                <a:latin typeface="Epilogue" pitchFamily="34" charset="0"/>
                <a:ea typeface="Epilogue" pitchFamily="34" charset="-122"/>
                <a:cs typeface="Epilogue" pitchFamily="34" charset="-120"/>
              </a:rPr>
              <a:t>no missing values or outliers</a:t>
            </a:r>
            <a:pPr algn="l" indent="0" marL="0">
              <a:lnSpc>
                <a:spcPts val="2700"/>
              </a:lnSpc>
              <a:buNone/>
            </a:pPr>
            <a:r>
              <a:rPr lang="en-US" sz="1700" dirty="0">
                <a:solidFill>
                  <a:srgbClr val="EBECEF"/>
                </a:solidFill>
                <a:latin typeface="Epilogue" pitchFamily="34" charset="0"/>
                <a:ea typeface="Epilogue" pitchFamily="34" charset="-122"/>
                <a:cs typeface="Epilogue" pitchFamily="34" charset="-120"/>
              </a:rPr>
              <a:t>, so no imputation or removal was necessary.</a:t>
            </a:r>
            <a:endParaRPr lang="en-US" sz="1700" dirty="0"/>
          </a:p>
        </p:txBody>
      </p:sp>
      <p:sp>
        <p:nvSpPr>
          <p:cNvPr id="8" name="Shape 6"/>
          <p:cNvSpPr/>
          <p:nvPr/>
        </p:nvSpPr>
        <p:spPr>
          <a:xfrm>
            <a:off x="5201007" y="1875473"/>
            <a:ext cx="4228267" cy="5586651"/>
          </a:xfrm>
          <a:prstGeom prst="roundRect">
            <a:avLst>
              <a:gd name="adj" fmla="val 3460"/>
            </a:avLst>
          </a:prstGeom>
          <a:solidFill>
            <a:srgbClr val="080E26"/>
          </a:solidFill>
          <a:ln w="30480">
            <a:solidFill>
              <a:srgbClr val="414A70"/>
            </a:solidFill>
            <a:prstDash val="solid"/>
          </a:ln>
        </p:spPr>
      </p:sp>
      <p:sp>
        <p:nvSpPr>
          <p:cNvPr id="9" name="Shape 7"/>
          <p:cNvSpPr/>
          <p:nvPr/>
        </p:nvSpPr>
        <p:spPr>
          <a:xfrm>
            <a:off x="5170527" y="1875473"/>
            <a:ext cx="121920" cy="5586651"/>
          </a:xfrm>
          <a:prstGeom prst="roundRect">
            <a:avLst>
              <a:gd name="adj" fmla="val 74484"/>
            </a:avLst>
          </a:prstGeom>
          <a:solidFill>
            <a:srgbClr val="8C98CA"/>
          </a:solidFill>
          <a:ln/>
        </p:spPr>
      </p:sp>
      <p:sp>
        <p:nvSpPr>
          <p:cNvPr id="10" name="Text 8"/>
          <p:cNvSpPr/>
          <p:nvPr/>
        </p:nvSpPr>
        <p:spPr>
          <a:xfrm>
            <a:off x="5539026" y="2122051"/>
            <a:ext cx="2702600" cy="337780"/>
          </a:xfrm>
          <a:prstGeom prst="rect">
            <a:avLst/>
          </a:prstGeom>
          <a:noFill/>
          <a:ln/>
        </p:spPr>
        <p:txBody>
          <a:bodyPr wrap="none" lIns="0" tIns="0" rIns="0" bIns="0" rtlCol="0" anchor="t"/>
          <a:lstStyle/>
          <a:p>
            <a:pPr algn="l" indent="0" marL="0">
              <a:lnSpc>
                <a:spcPts val="2650"/>
              </a:lnSpc>
              <a:buNone/>
            </a:pPr>
            <a:r>
              <a:rPr lang="en-US" sz="2100" dirty="0">
                <a:solidFill>
                  <a:srgbClr val="EBECEF"/>
                </a:solidFill>
                <a:latin typeface="Fraunces Medium" pitchFamily="34" charset="0"/>
                <a:ea typeface="Fraunces Medium" pitchFamily="34" charset="-122"/>
                <a:cs typeface="Fraunces Medium" pitchFamily="34" charset="-120"/>
              </a:rPr>
              <a:t>Class Imbalance</a:t>
            </a:r>
            <a:endParaRPr lang="en-US" sz="2100" dirty="0"/>
          </a:p>
        </p:txBody>
      </p:sp>
      <p:sp>
        <p:nvSpPr>
          <p:cNvPr id="11" name="Text 9"/>
          <p:cNvSpPr/>
          <p:nvPr/>
        </p:nvSpPr>
        <p:spPr>
          <a:xfrm>
            <a:off x="5539026" y="2589490"/>
            <a:ext cx="3643670" cy="1383506"/>
          </a:xfrm>
          <a:prstGeom prst="rect">
            <a:avLst/>
          </a:prstGeom>
          <a:noFill/>
          <a:ln/>
        </p:spPr>
        <p:txBody>
          <a:bodyPr wrap="square" lIns="0" tIns="0" rIns="0" bIns="0" rtlCol="0" anchor="t"/>
          <a:lstStyle/>
          <a:p>
            <a:pPr algn="l" indent="0" marL="0">
              <a:lnSpc>
                <a:spcPts val="2700"/>
              </a:lnSpc>
              <a:buNone/>
            </a:pPr>
            <a:r>
              <a:rPr lang="en-US" sz="1700" b="1" dirty="0">
                <a:solidFill>
                  <a:srgbClr val="EBECEF"/>
                </a:solidFill>
                <a:latin typeface="Epilogue" pitchFamily="34" charset="0"/>
                <a:ea typeface="Epilogue" pitchFamily="34" charset="-122"/>
                <a:cs typeface="Epilogue" pitchFamily="34" charset="-120"/>
              </a:rPr>
              <a:t>Challenge:</a:t>
            </a:r>
            <a:pPr algn="l" indent="0" marL="0">
              <a:lnSpc>
                <a:spcPts val="2700"/>
              </a:lnSpc>
              <a:buNone/>
            </a:pPr>
            <a:r>
              <a:rPr lang="en-US" sz="1700" dirty="0">
                <a:solidFill>
                  <a:srgbClr val="EBECEF"/>
                </a:solidFill>
                <a:latin typeface="Epilogue" pitchFamily="34" charset="0"/>
                <a:ea typeface="Epilogue" pitchFamily="34" charset="-122"/>
                <a:cs typeface="Epilogue" pitchFamily="34" charset="-120"/>
              </a:rPr>
              <a:t> Positive cases (heart disease) represented only 45.8% of the dataset, leading to biased predictions.</a:t>
            </a:r>
            <a:endParaRPr lang="en-US" sz="1700" dirty="0"/>
          </a:p>
        </p:txBody>
      </p:sp>
      <p:sp>
        <p:nvSpPr>
          <p:cNvPr id="12" name="Text 10"/>
          <p:cNvSpPr/>
          <p:nvPr/>
        </p:nvSpPr>
        <p:spPr>
          <a:xfrm>
            <a:off x="5539026" y="4102656"/>
            <a:ext cx="3643670" cy="2767013"/>
          </a:xfrm>
          <a:prstGeom prst="rect">
            <a:avLst/>
          </a:prstGeom>
          <a:noFill/>
          <a:ln/>
        </p:spPr>
        <p:txBody>
          <a:bodyPr wrap="square" lIns="0" tIns="0" rIns="0" bIns="0" rtlCol="0" anchor="t"/>
          <a:lstStyle/>
          <a:p>
            <a:pPr algn="l" indent="0" marL="0">
              <a:lnSpc>
                <a:spcPts val="2700"/>
              </a:lnSpc>
              <a:buNone/>
            </a:pPr>
            <a:r>
              <a:rPr lang="en-US" sz="1700" b="1" dirty="0">
                <a:solidFill>
                  <a:srgbClr val="EBECEF"/>
                </a:solidFill>
                <a:latin typeface="Epilogue" pitchFamily="34" charset="0"/>
                <a:ea typeface="Epilogue" pitchFamily="34" charset="-122"/>
                <a:cs typeface="Epilogue" pitchFamily="34" charset="-120"/>
              </a:rPr>
              <a:t>Solution:</a:t>
            </a:r>
            <a:pPr algn="l" indent="0" marL="0">
              <a:lnSpc>
                <a:spcPts val="2700"/>
              </a:lnSpc>
              <a:buNone/>
            </a:pPr>
            <a:r>
              <a:rPr lang="en-US" sz="1700" dirty="0">
                <a:solidFill>
                  <a:srgbClr val="EBECEF"/>
                </a:solidFill>
                <a:latin typeface="Epilogue" pitchFamily="34" charset="0"/>
                <a:ea typeface="Epilogue" pitchFamily="34" charset="-122"/>
                <a:cs typeface="Epilogue" pitchFamily="34" charset="-120"/>
              </a:rPr>
              <a:t> : Applied </a:t>
            </a:r>
            <a:pPr algn="l" indent="0" marL="0">
              <a:lnSpc>
                <a:spcPts val="2700"/>
              </a:lnSpc>
              <a:buNone/>
            </a:pPr>
            <a:r>
              <a:rPr lang="en-US" sz="1700" b="1" dirty="0">
                <a:solidFill>
                  <a:srgbClr val="EBECEF"/>
                </a:solidFill>
                <a:latin typeface="Epilogue" pitchFamily="34" charset="0"/>
                <a:ea typeface="Epilogue" pitchFamily="34" charset="-122"/>
                <a:cs typeface="Epilogue" pitchFamily="34" charset="-120"/>
              </a:rPr>
              <a:t>SMOTE (Synthetic Minority Oversampling Technique)</a:t>
            </a:r>
            <a:pPr algn="l" indent="0" marL="0">
              <a:lnSpc>
                <a:spcPts val="2700"/>
              </a:lnSpc>
              <a:buNone/>
            </a:pPr>
            <a:r>
              <a:rPr lang="en-US" sz="1700" dirty="0">
                <a:solidFill>
                  <a:srgbClr val="EBECEF"/>
                </a:solidFill>
                <a:latin typeface="Epilogue" pitchFamily="34" charset="0"/>
                <a:ea typeface="Epilogue" pitchFamily="34" charset="-122"/>
                <a:cs typeface="Epilogue" pitchFamily="34" charset="-120"/>
              </a:rPr>
              <a:t> to balance the dataset by generating synthetic examples for the minority class, improving model performance on both classes.</a:t>
            </a:r>
            <a:endParaRPr lang="en-US" sz="1700" dirty="0"/>
          </a:p>
        </p:txBody>
      </p:sp>
      <p:sp>
        <p:nvSpPr>
          <p:cNvPr id="13" name="Shape 11"/>
          <p:cNvSpPr/>
          <p:nvPr/>
        </p:nvSpPr>
        <p:spPr>
          <a:xfrm>
            <a:off x="9645372" y="1875473"/>
            <a:ext cx="4228267" cy="5586651"/>
          </a:xfrm>
          <a:prstGeom prst="roundRect">
            <a:avLst>
              <a:gd name="adj" fmla="val 3460"/>
            </a:avLst>
          </a:prstGeom>
          <a:solidFill>
            <a:srgbClr val="080E26"/>
          </a:solidFill>
          <a:ln w="30480">
            <a:solidFill>
              <a:srgbClr val="414A70"/>
            </a:solidFill>
            <a:prstDash val="solid"/>
          </a:ln>
        </p:spPr>
      </p:sp>
      <p:sp>
        <p:nvSpPr>
          <p:cNvPr id="14" name="Shape 12"/>
          <p:cNvSpPr/>
          <p:nvPr/>
        </p:nvSpPr>
        <p:spPr>
          <a:xfrm>
            <a:off x="9614892" y="1875473"/>
            <a:ext cx="121920" cy="5586651"/>
          </a:xfrm>
          <a:prstGeom prst="roundRect">
            <a:avLst>
              <a:gd name="adj" fmla="val 74484"/>
            </a:avLst>
          </a:prstGeom>
          <a:solidFill>
            <a:srgbClr val="8C98CA"/>
          </a:solidFill>
          <a:ln/>
        </p:spPr>
      </p:sp>
      <p:sp>
        <p:nvSpPr>
          <p:cNvPr id="15" name="Text 13"/>
          <p:cNvSpPr/>
          <p:nvPr/>
        </p:nvSpPr>
        <p:spPr>
          <a:xfrm>
            <a:off x="9983391" y="2122051"/>
            <a:ext cx="2855952" cy="337780"/>
          </a:xfrm>
          <a:prstGeom prst="rect">
            <a:avLst/>
          </a:prstGeom>
          <a:noFill/>
          <a:ln/>
        </p:spPr>
        <p:txBody>
          <a:bodyPr wrap="none" lIns="0" tIns="0" rIns="0" bIns="0" rtlCol="0" anchor="t"/>
          <a:lstStyle/>
          <a:p>
            <a:pPr algn="l" indent="0" marL="0">
              <a:lnSpc>
                <a:spcPts val="2650"/>
              </a:lnSpc>
              <a:buNone/>
            </a:pPr>
            <a:r>
              <a:rPr lang="en-US" sz="2100" dirty="0">
                <a:solidFill>
                  <a:srgbClr val="EBECEF"/>
                </a:solidFill>
                <a:latin typeface="Fraunces Medium" pitchFamily="34" charset="0"/>
                <a:ea typeface="Fraunces Medium" pitchFamily="34" charset="-122"/>
                <a:cs typeface="Fraunces Medium" pitchFamily="34" charset="-120"/>
              </a:rPr>
              <a:t>Model Interpretability</a:t>
            </a:r>
            <a:endParaRPr lang="en-US" sz="2100" dirty="0"/>
          </a:p>
        </p:txBody>
      </p:sp>
      <p:sp>
        <p:nvSpPr>
          <p:cNvPr id="16" name="Text 14"/>
          <p:cNvSpPr/>
          <p:nvPr/>
        </p:nvSpPr>
        <p:spPr>
          <a:xfrm>
            <a:off x="9983391" y="2589490"/>
            <a:ext cx="3643670" cy="2075259"/>
          </a:xfrm>
          <a:prstGeom prst="rect">
            <a:avLst/>
          </a:prstGeom>
          <a:noFill/>
          <a:ln/>
        </p:spPr>
        <p:txBody>
          <a:bodyPr wrap="square" lIns="0" tIns="0" rIns="0" bIns="0" rtlCol="0" anchor="t"/>
          <a:lstStyle/>
          <a:p>
            <a:pPr algn="l" indent="0" marL="0">
              <a:lnSpc>
                <a:spcPts val="2700"/>
              </a:lnSpc>
              <a:buNone/>
            </a:pPr>
            <a:r>
              <a:rPr lang="en-US" sz="1700" b="1" dirty="0">
                <a:solidFill>
                  <a:srgbClr val="EBECEF"/>
                </a:solidFill>
                <a:latin typeface="Epilogue" pitchFamily="34" charset="0"/>
                <a:ea typeface="Epilogue" pitchFamily="34" charset="-122"/>
                <a:cs typeface="Epilogue" pitchFamily="34" charset="-120"/>
              </a:rPr>
              <a:t>Challenge:</a:t>
            </a:r>
            <a:pPr algn="l" indent="0" marL="0">
              <a:lnSpc>
                <a:spcPts val="2700"/>
              </a:lnSpc>
              <a:buNone/>
            </a:pPr>
            <a:r>
              <a:rPr lang="en-US" sz="1700" dirty="0">
                <a:solidFill>
                  <a:srgbClr val="EBECEF"/>
                </a:solidFill>
                <a:latin typeface="Epilogue" pitchFamily="34" charset="0"/>
                <a:ea typeface="Epilogue" pitchFamily="34" charset="-122"/>
                <a:cs typeface="Epilogue" pitchFamily="34" charset="-120"/>
              </a:rPr>
              <a:t> Deep learning models (e.g., ANN) and distance-based models (e.g., KNN) often act as "black boxes," making interpretation difficult for clinicians.</a:t>
            </a:r>
            <a:endParaRPr lang="en-US" sz="1700" dirty="0"/>
          </a:p>
        </p:txBody>
      </p:sp>
      <p:sp>
        <p:nvSpPr>
          <p:cNvPr id="17" name="Text 15"/>
          <p:cNvSpPr/>
          <p:nvPr/>
        </p:nvSpPr>
        <p:spPr>
          <a:xfrm>
            <a:off x="9983391" y="4794409"/>
            <a:ext cx="3643670" cy="2421136"/>
          </a:xfrm>
          <a:prstGeom prst="rect">
            <a:avLst/>
          </a:prstGeom>
          <a:noFill/>
          <a:ln/>
        </p:spPr>
        <p:txBody>
          <a:bodyPr wrap="square" lIns="0" tIns="0" rIns="0" bIns="0" rtlCol="0" anchor="t"/>
          <a:lstStyle/>
          <a:p>
            <a:pPr algn="l" indent="0" marL="0">
              <a:lnSpc>
                <a:spcPts val="2700"/>
              </a:lnSpc>
              <a:buNone/>
            </a:pPr>
            <a:r>
              <a:rPr lang="en-US" sz="1700" b="1" dirty="0">
                <a:solidFill>
                  <a:srgbClr val="EBECEF"/>
                </a:solidFill>
                <a:latin typeface="Epilogue" pitchFamily="34" charset="0"/>
                <a:ea typeface="Epilogue" pitchFamily="34" charset="-122"/>
                <a:cs typeface="Epilogue" pitchFamily="34" charset="-120"/>
              </a:rPr>
              <a:t>Solution:</a:t>
            </a:r>
            <a:pPr algn="l" indent="0" marL="0">
              <a:lnSpc>
                <a:spcPts val="2700"/>
              </a:lnSpc>
              <a:buNone/>
            </a:pPr>
            <a:r>
              <a:rPr lang="en-US" sz="1700" dirty="0">
                <a:solidFill>
                  <a:srgbClr val="EBECEF"/>
                </a:solidFill>
                <a:latin typeface="Epilogue" pitchFamily="34" charset="0"/>
                <a:ea typeface="Epilogue" pitchFamily="34" charset="-122"/>
                <a:cs typeface="Epilogue" pitchFamily="34" charset="-120"/>
              </a:rPr>
              <a:t> Used simpler interpretable models (like Logistic Regression and Random Forest with feature importance) to explain predictions, and visualized feature contributions for better understanding.</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611029" y="734616"/>
            <a:ext cx="5513546" cy="545544"/>
          </a:xfrm>
          <a:prstGeom prst="rect">
            <a:avLst/>
          </a:prstGeom>
          <a:noFill/>
          <a:ln/>
        </p:spPr>
        <p:txBody>
          <a:bodyPr wrap="none" lIns="0" tIns="0" rIns="0" bIns="0" rtlCol="0" anchor="t"/>
          <a:lstStyle/>
          <a:p>
            <a:pPr algn="l" indent="0" marL="0">
              <a:lnSpc>
                <a:spcPts val="4250"/>
              </a:lnSpc>
              <a:buNone/>
            </a:pPr>
            <a:r>
              <a:rPr lang="en-US" sz="3400" dirty="0">
                <a:solidFill>
                  <a:srgbClr val="FFFFFF"/>
                </a:solidFill>
                <a:latin typeface="Fraunces Medium" pitchFamily="34" charset="0"/>
                <a:ea typeface="Fraunces Medium" pitchFamily="34" charset="-122"/>
                <a:cs typeface="Fraunces Medium" pitchFamily="34" charset="-120"/>
              </a:rPr>
              <a:t>Conclusion &amp; Future Work</a:t>
            </a:r>
            <a:endParaRPr lang="en-US" sz="3400" dirty="0"/>
          </a:p>
        </p:txBody>
      </p:sp>
      <p:sp>
        <p:nvSpPr>
          <p:cNvPr id="4" name="Text 1"/>
          <p:cNvSpPr/>
          <p:nvPr/>
        </p:nvSpPr>
        <p:spPr>
          <a:xfrm>
            <a:off x="611029" y="1716524"/>
            <a:ext cx="2182297" cy="272772"/>
          </a:xfrm>
          <a:prstGeom prst="rect">
            <a:avLst/>
          </a:prstGeom>
          <a:noFill/>
          <a:ln/>
        </p:spPr>
        <p:txBody>
          <a:bodyPr wrap="none" lIns="0" tIns="0" rIns="0" bIns="0" rtlCol="0" anchor="t"/>
          <a:lstStyle/>
          <a:p>
            <a:pPr algn="l" indent="0" marL="0">
              <a:lnSpc>
                <a:spcPts val="2100"/>
              </a:lnSpc>
              <a:buNone/>
            </a:pPr>
            <a:r>
              <a:rPr lang="en-US" sz="1700" dirty="0">
                <a:solidFill>
                  <a:srgbClr val="FFFFFF"/>
                </a:solidFill>
                <a:latin typeface="Fraunces Medium" pitchFamily="34" charset="0"/>
                <a:ea typeface="Fraunces Medium" pitchFamily="34" charset="-122"/>
                <a:cs typeface="Fraunces Medium" pitchFamily="34" charset="-120"/>
              </a:rPr>
              <a:t>Key Achievements</a:t>
            </a:r>
            <a:endParaRPr lang="en-US" sz="1700" dirty="0"/>
          </a:p>
        </p:txBody>
      </p:sp>
      <p:sp>
        <p:nvSpPr>
          <p:cNvPr id="5" name="Text 2"/>
          <p:cNvSpPr/>
          <p:nvPr/>
        </p:nvSpPr>
        <p:spPr>
          <a:xfrm>
            <a:off x="611029" y="2163842"/>
            <a:ext cx="3748087" cy="1116806"/>
          </a:xfrm>
          <a:prstGeom prst="rect">
            <a:avLst/>
          </a:prstGeom>
          <a:noFill/>
          <a:ln/>
        </p:spPr>
        <p:txBody>
          <a:bodyPr wrap="square" lIns="0" tIns="0" rIns="0" bIns="0" rtlCol="0" anchor="t"/>
          <a:lstStyle/>
          <a:p>
            <a:pPr algn="l" marL="342900" indent="-342900">
              <a:lnSpc>
                <a:spcPts val="2150"/>
              </a:lnSpc>
              <a:buSzPct val="100000"/>
              <a:buChar char="•"/>
            </a:pPr>
            <a:r>
              <a:rPr lang="en-US" sz="1350" dirty="0">
                <a:solidFill>
                  <a:srgbClr val="EBECEF"/>
                </a:solidFill>
                <a:latin typeface="Epilogue" pitchFamily="34" charset="0"/>
                <a:ea typeface="Epilogue" pitchFamily="34" charset="-122"/>
                <a:cs typeface="Epilogue" pitchFamily="34" charset="-120"/>
              </a:rPr>
              <a:t>Achieved </a:t>
            </a:r>
            <a:pPr algn="l" indent="0" marL="0">
              <a:lnSpc>
                <a:spcPts val="2150"/>
              </a:lnSpc>
              <a:buNone/>
            </a:pPr>
            <a:r>
              <a:rPr lang="en-US" sz="1350" b="1" dirty="0">
                <a:solidFill>
                  <a:srgbClr val="EBECEF"/>
                </a:solidFill>
                <a:latin typeface="Epilogue" pitchFamily="34" charset="0"/>
                <a:ea typeface="Epilogue" pitchFamily="34" charset="-122"/>
                <a:cs typeface="Epilogue" pitchFamily="34" charset="-120"/>
              </a:rPr>
              <a:t>88.3% to 92.1% accuracy</a:t>
            </a:r>
            <a:pPr algn="l" indent="0" marL="0">
              <a:lnSpc>
                <a:spcPts val="2150"/>
              </a:lnSpc>
              <a:buNone/>
            </a:pPr>
            <a:r>
              <a:rPr lang="en-US" sz="1350" dirty="0">
                <a:solidFill>
                  <a:srgbClr val="EBECEF"/>
                </a:solidFill>
                <a:latin typeface="Epilogue" pitchFamily="34" charset="0"/>
                <a:ea typeface="Epilogue" pitchFamily="34" charset="-122"/>
                <a:cs typeface="Epilogue" pitchFamily="34" charset="-120"/>
              </a:rPr>
              <a:t> using K-Nearest Neighbors (KNN), Logistic Regression, SVM, Random Forest, and ANN models</a:t>
            </a:r>
            <a:endParaRPr lang="en-US" sz="1350" dirty="0"/>
          </a:p>
        </p:txBody>
      </p:sp>
      <p:sp>
        <p:nvSpPr>
          <p:cNvPr id="6" name="Text 3"/>
          <p:cNvSpPr/>
          <p:nvPr/>
        </p:nvSpPr>
        <p:spPr>
          <a:xfrm>
            <a:off x="611029" y="3341727"/>
            <a:ext cx="3748087" cy="837605"/>
          </a:xfrm>
          <a:prstGeom prst="rect">
            <a:avLst/>
          </a:prstGeom>
          <a:noFill/>
          <a:ln/>
        </p:spPr>
        <p:txBody>
          <a:bodyPr wrap="square" lIns="0" tIns="0" rIns="0" bIns="0" rtlCol="0" anchor="t"/>
          <a:lstStyle/>
          <a:p>
            <a:pPr algn="l" marL="342900" indent="-342900">
              <a:lnSpc>
                <a:spcPts val="2150"/>
              </a:lnSpc>
              <a:buSzPct val="100000"/>
              <a:buChar char="•"/>
            </a:pPr>
            <a:r>
              <a:rPr lang="en-US" sz="1350" dirty="0">
                <a:solidFill>
                  <a:srgbClr val="EBECEF"/>
                </a:solidFill>
                <a:latin typeface="Epilogue" pitchFamily="34" charset="0"/>
                <a:ea typeface="Epilogue" pitchFamily="34" charset="-122"/>
                <a:cs typeface="Epilogue" pitchFamily="34" charset="-120"/>
              </a:rPr>
              <a:t>Successfully applied </a:t>
            </a:r>
            <a:pPr algn="l" indent="0" marL="0">
              <a:lnSpc>
                <a:spcPts val="2150"/>
              </a:lnSpc>
              <a:buNone/>
            </a:pPr>
            <a:r>
              <a:rPr lang="en-US" sz="1350" b="1" dirty="0">
                <a:solidFill>
                  <a:srgbClr val="EBECEF"/>
                </a:solidFill>
                <a:latin typeface="Epilogue" pitchFamily="34" charset="0"/>
                <a:ea typeface="Epilogue" pitchFamily="34" charset="-122"/>
                <a:cs typeface="Epilogue" pitchFamily="34" charset="-120"/>
              </a:rPr>
              <a:t>machine learning and deep learning</a:t>
            </a:r>
            <a:pPr algn="l" indent="0" marL="0">
              <a:lnSpc>
                <a:spcPts val="2150"/>
              </a:lnSpc>
              <a:buNone/>
            </a:pPr>
            <a:r>
              <a:rPr lang="en-US" sz="1350" dirty="0">
                <a:solidFill>
                  <a:srgbClr val="EBECEF"/>
                </a:solidFill>
                <a:latin typeface="Epilogue" pitchFamily="34" charset="0"/>
                <a:ea typeface="Epilogue" pitchFamily="34" charset="-122"/>
                <a:cs typeface="Epilogue" pitchFamily="34" charset="-120"/>
              </a:rPr>
              <a:t> techniques to predict heart disease from clinical data</a:t>
            </a:r>
            <a:endParaRPr lang="en-US" sz="1350" dirty="0"/>
          </a:p>
        </p:txBody>
      </p:sp>
      <p:sp>
        <p:nvSpPr>
          <p:cNvPr id="7" name="Text 4"/>
          <p:cNvSpPr/>
          <p:nvPr/>
        </p:nvSpPr>
        <p:spPr>
          <a:xfrm>
            <a:off x="611029" y="4240411"/>
            <a:ext cx="3748087" cy="837605"/>
          </a:xfrm>
          <a:prstGeom prst="rect">
            <a:avLst/>
          </a:prstGeom>
          <a:noFill/>
          <a:ln/>
        </p:spPr>
        <p:txBody>
          <a:bodyPr wrap="square" lIns="0" tIns="0" rIns="0" bIns="0" rtlCol="0" anchor="t"/>
          <a:lstStyle/>
          <a:p>
            <a:pPr algn="l" marL="342900" indent="-342900">
              <a:lnSpc>
                <a:spcPts val="2150"/>
              </a:lnSpc>
              <a:buSzPct val="100000"/>
              <a:buChar char="•"/>
            </a:pPr>
            <a:r>
              <a:rPr lang="en-US" sz="1350" dirty="0">
                <a:solidFill>
                  <a:srgbClr val="EBECEF"/>
                </a:solidFill>
                <a:latin typeface="Epilogue" pitchFamily="34" charset="0"/>
                <a:ea typeface="Epilogue" pitchFamily="34" charset="-122"/>
                <a:cs typeface="Epilogue" pitchFamily="34" charset="-120"/>
              </a:rPr>
              <a:t>Developed an </a:t>
            </a:r>
            <a:pPr algn="l" indent="0" marL="0">
              <a:lnSpc>
                <a:spcPts val="2150"/>
              </a:lnSpc>
              <a:buNone/>
            </a:pPr>
            <a:r>
              <a:rPr lang="en-US" sz="1350" b="1" dirty="0">
                <a:solidFill>
                  <a:srgbClr val="EBECEF"/>
                </a:solidFill>
                <a:latin typeface="Epilogue" pitchFamily="34" charset="0"/>
                <a:ea typeface="Epilogue" pitchFamily="34" charset="-122"/>
                <a:cs typeface="Epilogue" pitchFamily="34" charset="-120"/>
              </a:rPr>
              <a:t>interactive Streamlit web application</a:t>
            </a:r>
            <a:pPr algn="l" indent="0" marL="0">
              <a:lnSpc>
                <a:spcPts val="2150"/>
              </a:lnSpc>
              <a:buNone/>
            </a:pPr>
            <a:r>
              <a:rPr lang="en-US" sz="1350" dirty="0">
                <a:solidFill>
                  <a:srgbClr val="EBECEF"/>
                </a:solidFill>
                <a:latin typeface="Epilogue" pitchFamily="34" charset="0"/>
                <a:ea typeface="Epilogue" pitchFamily="34" charset="-122"/>
                <a:cs typeface="Epilogue" pitchFamily="34" charset="-120"/>
              </a:rPr>
              <a:t> to allow real-time user input and prediction</a:t>
            </a:r>
            <a:endParaRPr lang="en-US" sz="1350" dirty="0"/>
          </a:p>
        </p:txBody>
      </p:sp>
      <p:sp>
        <p:nvSpPr>
          <p:cNvPr id="8" name="Text 5"/>
          <p:cNvSpPr/>
          <p:nvPr/>
        </p:nvSpPr>
        <p:spPr>
          <a:xfrm>
            <a:off x="611029" y="5139095"/>
            <a:ext cx="3748087" cy="1116806"/>
          </a:xfrm>
          <a:prstGeom prst="rect">
            <a:avLst/>
          </a:prstGeom>
          <a:noFill/>
          <a:ln/>
        </p:spPr>
        <p:txBody>
          <a:bodyPr wrap="square" lIns="0" tIns="0" rIns="0" bIns="0" rtlCol="0" anchor="t"/>
          <a:lstStyle/>
          <a:p>
            <a:pPr algn="l" marL="342900" indent="-342900">
              <a:lnSpc>
                <a:spcPts val="2150"/>
              </a:lnSpc>
              <a:buSzPct val="100000"/>
              <a:buChar char="•"/>
            </a:pPr>
            <a:r>
              <a:rPr lang="en-US" sz="1350" dirty="0">
                <a:solidFill>
                  <a:srgbClr val="EBECEF"/>
                </a:solidFill>
                <a:latin typeface="Epilogue" pitchFamily="34" charset="0"/>
                <a:ea typeface="Epilogue" pitchFamily="34" charset="-122"/>
                <a:cs typeface="Epilogue" pitchFamily="34" charset="-120"/>
              </a:rPr>
              <a:t>Ensured </a:t>
            </a:r>
            <a:pPr algn="l" indent="0" marL="0">
              <a:lnSpc>
                <a:spcPts val="2150"/>
              </a:lnSpc>
              <a:buNone/>
            </a:pPr>
            <a:r>
              <a:rPr lang="en-US" sz="1350" b="1" dirty="0">
                <a:solidFill>
                  <a:srgbClr val="EBECEF"/>
                </a:solidFill>
                <a:latin typeface="Epilogue" pitchFamily="34" charset="0"/>
                <a:ea typeface="Epilogue" pitchFamily="34" charset="-122"/>
                <a:cs typeface="Epilogue" pitchFamily="34" charset="-120"/>
              </a:rPr>
              <a:t>data standardization, encoding, and model evaluation</a:t>
            </a:r>
            <a:pPr algn="l" indent="0" marL="0">
              <a:lnSpc>
                <a:spcPts val="2150"/>
              </a:lnSpc>
              <a:buNone/>
            </a:pPr>
            <a:r>
              <a:rPr lang="en-US" sz="1350" dirty="0">
                <a:solidFill>
                  <a:srgbClr val="EBECEF"/>
                </a:solidFill>
                <a:latin typeface="Epilogue" pitchFamily="34" charset="0"/>
                <a:ea typeface="Epilogue" pitchFamily="34" charset="-122"/>
                <a:cs typeface="Epilogue" pitchFamily="34" charset="-120"/>
              </a:rPr>
              <a:t> using confusion matrix, precision, recall, and F1-score</a:t>
            </a:r>
            <a:endParaRPr lang="en-US" sz="1350" dirty="0"/>
          </a:p>
        </p:txBody>
      </p:sp>
      <p:sp>
        <p:nvSpPr>
          <p:cNvPr id="9" name="Text 6"/>
          <p:cNvSpPr/>
          <p:nvPr/>
        </p:nvSpPr>
        <p:spPr>
          <a:xfrm>
            <a:off x="611029" y="6316980"/>
            <a:ext cx="3748087" cy="837605"/>
          </a:xfrm>
          <a:prstGeom prst="rect">
            <a:avLst/>
          </a:prstGeom>
          <a:noFill/>
          <a:ln/>
        </p:spPr>
        <p:txBody>
          <a:bodyPr wrap="square" lIns="0" tIns="0" rIns="0" bIns="0" rtlCol="0" anchor="t"/>
          <a:lstStyle/>
          <a:p>
            <a:pPr algn="l" marL="342900" indent="-342900">
              <a:lnSpc>
                <a:spcPts val="2150"/>
              </a:lnSpc>
              <a:buSzPct val="100000"/>
              <a:buChar char="•"/>
            </a:pPr>
            <a:r>
              <a:rPr lang="en-US" sz="1350" dirty="0">
                <a:solidFill>
                  <a:srgbClr val="EBECEF"/>
                </a:solidFill>
                <a:latin typeface="Epilogue" pitchFamily="34" charset="0"/>
                <a:ea typeface="Epilogue" pitchFamily="34" charset="-122"/>
                <a:cs typeface="Epilogue" pitchFamily="34" charset="-120"/>
              </a:rPr>
              <a:t>Maintained </a:t>
            </a:r>
            <a:pPr algn="l" indent="0" marL="0">
              <a:lnSpc>
                <a:spcPts val="2150"/>
              </a:lnSpc>
              <a:buNone/>
            </a:pPr>
            <a:r>
              <a:rPr lang="en-US" sz="1350" b="1" dirty="0">
                <a:solidFill>
                  <a:srgbClr val="EBECEF"/>
                </a:solidFill>
                <a:latin typeface="Epilogue" pitchFamily="34" charset="0"/>
                <a:ea typeface="Epilogue" pitchFamily="34" charset="-122"/>
                <a:cs typeface="Epilogue" pitchFamily="34" charset="-120"/>
              </a:rPr>
              <a:t>reproducibility</a:t>
            </a:r>
            <a:pPr algn="l" indent="0" marL="0">
              <a:lnSpc>
                <a:spcPts val="2150"/>
              </a:lnSpc>
              <a:buNone/>
            </a:pPr>
            <a:r>
              <a:rPr lang="en-US" sz="1350" dirty="0">
                <a:solidFill>
                  <a:srgbClr val="EBECEF"/>
                </a:solidFill>
                <a:latin typeface="Epilogue" pitchFamily="34" charset="0"/>
                <a:ea typeface="Epilogue" pitchFamily="34" charset="-122"/>
                <a:cs typeface="Epilogue" pitchFamily="34" charset="-120"/>
              </a:rPr>
              <a:t> by using fixed random states and a well-structured training pipeline</a:t>
            </a:r>
            <a:endParaRPr lang="en-US" sz="1350" dirty="0"/>
          </a:p>
        </p:txBody>
      </p:sp>
      <p:sp>
        <p:nvSpPr>
          <p:cNvPr id="10" name="Text 7"/>
          <p:cNvSpPr/>
          <p:nvPr/>
        </p:nvSpPr>
        <p:spPr>
          <a:xfrm>
            <a:off x="4792504" y="1716524"/>
            <a:ext cx="2182297" cy="272772"/>
          </a:xfrm>
          <a:prstGeom prst="rect">
            <a:avLst/>
          </a:prstGeom>
          <a:noFill/>
          <a:ln/>
        </p:spPr>
        <p:txBody>
          <a:bodyPr wrap="none" lIns="0" tIns="0" rIns="0" bIns="0" rtlCol="0" anchor="t"/>
          <a:lstStyle/>
          <a:p>
            <a:pPr algn="l" indent="0" marL="0">
              <a:lnSpc>
                <a:spcPts val="2100"/>
              </a:lnSpc>
              <a:buNone/>
            </a:pPr>
            <a:r>
              <a:rPr lang="en-US" sz="1700" dirty="0">
                <a:solidFill>
                  <a:srgbClr val="FFFFFF"/>
                </a:solidFill>
                <a:latin typeface="Fraunces Medium" pitchFamily="34" charset="0"/>
                <a:ea typeface="Fraunces Medium" pitchFamily="34" charset="-122"/>
                <a:cs typeface="Fraunces Medium" pitchFamily="34" charset="-120"/>
              </a:rPr>
              <a:t>Future Directions</a:t>
            </a:r>
            <a:endParaRPr lang="en-US" sz="1700" dirty="0"/>
          </a:p>
        </p:txBody>
      </p:sp>
      <p:sp>
        <p:nvSpPr>
          <p:cNvPr id="11" name="Text 8"/>
          <p:cNvSpPr/>
          <p:nvPr/>
        </p:nvSpPr>
        <p:spPr>
          <a:xfrm>
            <a:off x="4792504" y="2163842"/>
            <a:ext cx="3748087" cy="837605"/>
          </a:xfrm>
          <a:prstGeom prst="rect">
            <a:avLst/>
          </a:prstGeom>
          <a:noFill/>
          <a:ln/>
        </p:spPr>
        <p:txBody>
          <a:bodyPr wrap="square" lIns="0" tIns="0" rIns="0" bIns="0" rtlCol="0" anchor="t"/>
          <a:lstStyle/>
          <a:p>
            <a:pPr algn="l" marL="342900" indent="-342900">
              <a:lnSpc>
                <a:spcPts val="2150"/>
              </a:lnSpc>
              <a:buSzPct val="100000"/>
              <a:buChar char="•"/>
            </a:pPr>
            <a:r>
              <a:rPr lang="en-US" sz="1350" b="1" dirty="0">
                <a:solidFill>
                  <a:srgbClr val="EBECEF"/>
                </a:solidFill>
                <a:latin typeface="Epilogue" pitchFamily="34" charset="0"/>
                <a:ea typeface="Epilogue" pitchFamily="34" charset="-122"/>
                <a:cs typeface="Epilogue" pitchFamily="34" charset="-120"/>
              </a:rPr>
              <a:t>Model Explainability:</a:t>
            </a:r>
            <a:pPr algn="l" indent="0" marL="0">
              <a:lnSpc>
                <a:spcPts val="2150"/>
              </a:lnSpc>
              <a:buNone/>
            </a:pPr>
            <a:r>
              <a:rPr lang="en-US" sz="1350" dirty="0">
                <a:solidFill>
                  <a:srgbClr val="EBECEF"/>
                </a:solidFill>
                <a:latin typeface="Epilogue" pitchFamily="34" charset="0"/>
                <a:ea typeface="Epilogue" pitchFamily="34" charset="-122"/>
                <a:cs typeface="Epilogue" pitchFamily="34" charset="-120"/>
              </a:rPr>
              <a:t> Integrate SHAP or LIME to enhance interpretability for clinical practitioners</a:t>
            </a:r>
            <a:endParaRPr lang="en-US" sz="1350" dirty="0"/>
          </a:p>
        </p:txBody>
      </p:sp>
      <p:sp>
        <p:nvSpPr>
          <p:cNvPr id="12" name="Text 9"/>
          <p:cNvSpPr/>
          <p:nvPr/>
        </p:nvSpPr>
        <p:spPr>
          <a:xfrm>
            <a:off x="4792504" y="3062526"/>
            <a:ext cx="3748087" cy="1116806"/>
          </a:xfrm>
          <a:prstGeom prst="rect">
            <a:avLst/>
          </a:prstGeom>
          <a:noFill/>
          <a:ln/>
        </p:spPr>
        <p:txBody>
          <a:bodyPr wrap="square" lIns="0" tIns="0" rIns="0" bIns="0" rtlCol="0" anchor="t"/>
          <a:lstStyle/>
          <a:p>
            <a:pPr algn="l" marL="342900" indent="-342900">
              <a:lnSpc>
                <a:spcPts val="2150"/>
              </a:lnSpc>
              <a:buSzPct val="100000"/>
              <a:buChar char="•"/>
            </a:pPr>
            <a:r>
              <a:rPr lang="en-US" sz="1350" b="1" dirty="0">
                <a:solidFill>
                  <a:srgbClr val="EBECEF"/>
                </a:solidFill>
                <a:latin typeface="Epilogue" pitchFamily="34" charset="0"/>
                <a:ea typeface="Epilogue" pitchFamily="34" charset="-122"/>
                <a:cs typeface="Epilogue" pitchFamily="34" charset="-120"/>
              </a:rPr>
              <a:t>Larger Dataset Testing:</a:t>
            </a:r>
            <a:pPr algn="l" indent="0" marL="0">
              <a:lnSpc>
                <a:spcPts val="2150"/>
              </a:lnSpc>
              <a:buNone/>
            </a:pPr>
            <a:r>
              <a:rPr lang="en-US" sz="1350" dirty="0">
                <a:solidFill>
                  <a:srgbClr val="EBECEF"/>
                </a:solidFill>
                <a:latin typeface="Epilogue" pitchFamily="34" charset="0"/>
                <a:ea typeface="Epilogue" pitchFamily="34" charset="-122"/>
                <a:cs typeface="Epilogue" pitchFamily="34" charset="-120"/>
              </a:rPr>
              <a:t> Evaluate model performance on multi-center or real-time hospital datasets for broader generalization</a:t>
            </a:r>
            <a:endParaRPr lang="en-US" sz="1350" dirty="0"/>
          </a:p>
        </p:txBody>
      </p:sp>
      <p:sp>
        <p:nvSpPr>
          <p:cNvPr id="13" name="Text 10"/>
          <p:cNvSpPr/>
          <p:nvPr/>
        </p:nvSpPr>
        <p:spPr>
          <a:xfrm>
            <a:off x="4792504" y="4240411"/>
            <a:ext cx="3748087" cy="1116806"/>
          </a:xfrm>
          <a:prstGeom prst="rect">
            <a:avLst/>
          </a:prstGeom>
          <a:noFill/>
          <a:ln/>
        </p:spPr>
        <p:txBody>
          <a:bodyPr wrap="square" lIns="0" tIns="0" rIns="0" bIns="0" rtlCol="0" anchor="t"/>
          <a:lstStyle/>
          <a:p>
            <a:pPr algn="l" marL="342900" indent="-342900">
              <a:lnSpc>
                <a:spcPts val="2150"/>
              </a:lnSpc>
              <a:buSzPct val="100000"/>
              <a:buChar char="•"/>
            </a:pPr>
            <a:r>
              <a:rPr lang="en-US" sz="1350" b="1" dirty="0">
                <a:solidFill>
                  <a:srgbClr val="EBECEF"/>
                </a:solidFill>
                <a:latin typeface="Epilogue" pitchFamily="34" charset="0"/>
                <a:ea typeface="Epilogue" pitchFamily="34" charset="-122"/>
                <a:cs typeface="Epilogue" pitchFamily="34" charset="-120"/>
              </a:rPr>
              <a:t>Mobile Deployment:</a:t>
            </a:r>
            <a:pPr algn="l" indent="0" marL="0">
              <a:lnSpc>
                <a:spcPts val="2150"/>
              </a:lnSpc>
              <a:buNone/>
            </a:pPr>
            <a:r>
              <a:rPr lang="en-US" sz="1350" dirty="0">
                <a:solidFill>
                  <a:srgbClr val="EBECEF"/>
                </a:solidFill>
                <a:latin typeface="Epilogue" pitchFamily="34" charset="0"/>
                <a:ea typeface="Epilogue" pitchFamily="34" charset="-122"/>
                <a:cs typeface="Epilogue" pitchFamily="34" charset="-120"/>
              </a:rPr>
              <a:t> Convert the Streamlit app into a mobile-friendly interface for easier access in remote areas</a:t>
            </a:r>
            <a:endParaRPr lang="en-US" sz="1350" dirty="0"/>
          </a:p>
        </p:txBody>
      </p:sp>
      <p:sp>
        <p:nvSpPr>
          <p:cNvPr id="14" name="Text 11"/>
          <p:cNvSpPr/>
          <p:nvPr/>
        </p:nvSpPr>
        <p:spPr>
          <a:xfrm>
            <a:off x="4792504" y="5418296"/>
            <a:ext cx="3748087" cy="1116806"/>
          </a:xfrm>
          <a:prstGeom prst="rect">
            <a:avLst/>
          </a:prstGeom>
          <a:noFill/>
          <a:ln/>
        </p:spPr>
        <p:txBody>
          <a:bodyPr wrap="square" lIns="0" tIns="0" rIns="0" bIns="0" rtlCol="0" anchor="t"/>
          <a:lstStyle/>
          <a:p>
            <a:pPr algn="l" marL="342900" indent="-342900">
              <a:lnSpc>
                <a:spcPts val="2150"/>
              </a:lnSpc>
              <a:buSzPct val="100000"/>
              <a:buChar char="•"/>
            </a:pPr>
            <a:r>
              <a:rPr lang="en-US" sz="1350" b="1" dirty="0">
                <a:solidFill>
                  <a:srgbClr val="EBECEF"/>
                </a:solidFill>
                <a:latin typeface="Epilogue" pitchFamily="34" charset="0"/>
                <a:ea typeface="Epilogue" pitchFamily="34" charset="-122"/>
                <a:cs typeface="Epilogue" pitchFamily="34" charset="-120"/>
              </a:rPr>
              <a:t>Realtime Monitoring:</a:t>
            </a:r>
            <a:pPr algn="l" indent="0" marL="0">
              <a:lnSpc>
                <a:spcPts val="2150"/>
              </a:lnSpc>
              <a:buNone/>
            </a:pPr>
            <a:r>
              <a:rPr lang="en-US" sz="1350" dirty="0">
                <a:solidFill>
                  <a:srgbClr val="EBECEF"/>
                </a:solidFill>
                <a:latin typeface="Epilogue" pitchFamily="34" charset="0"/>
                <a:ea typeface="Epilogue" pitchFamily="34" charset="-122"/>
                <a:cs typeface="Epilogue" pitchFamily="34" charset="-120"/>
              </a:rPr>
              <a:t> Integrate with wearable devices to continuously monitor patient vitals and trigger predictions dynamically</a:t>
            </a:r>
            <a:endParaRPr lang="en-US" sz="1350" dirty="0"/>
          </a:p>
        </p:txBody>
      </p:sp>
      <p:sp>
        <p:nvSpPr>
          <p:cNvPr id="15" name="Text 12"/>
          <p:cNvSpPr/>
          <p:nvPr/>
        </p:nvSpPr>
        <p:spPr>
          <a:xfrm>
            <a:off x="4792504" y="6596182"/>
            <a:ext cx="3748087" cy="837605"/>
          </a:xfrm>
          <a:prstGeom prst="rect">
            <a:avLst/>
          </a:prstGeom>
          <a:noFill/>
          <a:ln/>
        </p:spPr>
        <p:txBody>
          <a:bodyPr wrap="square" lIns="0" tIns="0" rIns="0" bIns="0" rtlCol="0" anchor="t"/>
          <a:lstStyle/>
          <a:p>
            <a:pPr algn="l" marL="342900" indent="-342900">
              <a:lnSpc>
                <a:spcPts val="2150"/>
              </a:lnSpc>
              <a:buSzPct val="100000"/>
              <a:buChar char="•"/>
            </a:pPr>
            <a:r>
              <a:rPr lang="en-US" sz="1350" b="1" dirty="0">
                <a:solidFill>
                  <a:srgbClr val="EBECEF"/>
                </a:solidFill>
                <a:latin typeface="Epilogue" pitchFamily="34" charset="0"/>
                <a:ea typeface="Epilogue" pitchFamily="34" charset="-122"/>
                <a:cs typeface="Epilogue" pitchFamily="34" charset="-120"/>
              </a:rPr>
              <a:t>Multi-class Prediction:</a:t>
            </a:r>
            <a:pPr algn="l" indent="0" marL="0">
              <a:lnSpc>
                <a:spcPts val="2150"/>
              </a:lnSpc>
              <a:buNone/>
            </a:pPr>
            <a:r>
              <a:rPr lang="en-US" sz="1350" dirty="0">
                <a:solidFill>
                  <a:srgbClr val="EBECEF"/>
                </a:solidFill>
                <a:latin typeface="Epilogue" pitchFamily="34" charset="0"/>
                <a:ea typeface="Epilogue" pitchFamily="34" charset="-122"/>
                <a:cs typeface="Epilogue" pitchFamily="34" charset="-120"/>
              </a:rPr>
              <a:t> Extend the model to predict severity levels or types of heart conditions</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93790" y="1760220"/>
            <a:ext cx="5670590" cy="708779"/>
          </a:xfrm>
          <a:prstGeom prst="rect">
            <a:avLst/>
          </a:prstGeom>
          <a:noFill/>
          <a:ln/>
        </p:spPr>
        <p:txBody>
          <a:bodyPr wrap="none" lIns="0" tIns="0" rIns="0" bIns="0" rtlCol="0" anchor="t"/>
          <a:lstStyle/>
          <a:p>
            <a:pPr algn="l" indent="0" marL="0">
              <a:lnSpc>
                <a:spcPts val="5550"/>
              </a:lnSpc>
              <a:buNone/>
            </a:pPr>
            <a:r>
              <a:rPr lang="en-US" sz="4450" dirty="0">
                <a:solidFill>
                  <a:srgbClr val="FFFFFF"/>
                </a:solidFill>
                <a:latin typeface="Fraunces Medium" pitchFamily="34" charset="0"/>
                <a:ea typeface="Fraunces Medium" pitchFamily="34" charset="-122"/>
                <a:cs typeface="Fraunces Medium" pitchFamily="34" charset="-120"/>
              </a:rPr>
              <a:t>Project Resources</a:t>
            </a:r>
            <a:endParaRPr lang="en-US" sz="4450" dirty="0"/>
          </a:p>
        </p:txBody>
      </p:sp>
      <p:pic>
        <p:nvPicPr>
          <p:cNvPr id="3" name="Image 0" descr="preencoded.png">    </p:cNvPr>
          <p:cNvPicPr>
            <a:picLocks noChangeAspect="1"/>
          </p:cNvPicPr>
          <p:nvPr/>
        </p:nvPicPr>
        <p:blipFill>
          <a:blip r:embed="rId1"/>
          <a:stretch>
            <a:fillRect/>
          </a:stretch>
        </p:blipFill>
        <p:spPr>
          <a:xfrm>
            <a:off x="793790" y="2922627"/>
            <a:ext cx="566976" cy="566976"/>
          </a:xfrm>
          <a:prstGeom prst="rect">
            <a:avLst/>
          </a:prstGeom>
        </p:spPr>
      </p:pic>
      <p:sp>
        <p:nvSpPr>
          <p:cNvPr id="4" name="Text 1"/>
          <p:cNvSpPr/>
          <p:nvPr/>
        </p:nvSpPr>
        <p:spPr>
          <a:xfrm>
            <a:off x="793790" y="3773091"/>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EBECEF"/>
                </a:solidFill>
                <a:latin typeface="Fraunces Medium" pitchFamily="34" charset="0"/>
                <a:ea typeface="Fraunces Medium" pitchFamily="34" charset="-122"/>
                <a:cs typeface="Fraunces Medium" pitchFamily="34" charset="-120"/>
              </a:rPr>
              <a:t>GitHub Repository</a:t>
            </a:r>
            <a:endParaRPr lang="en-US" sz="2200" dirty="0"/>
          </a:p>
        </p:txBody>
      </p:sp>
      <p:sp>
        <p:nvSpPr>
          <p:cNvPr id="5" name="Text 2"/>
          <p:cNvSpPr/>
          <p:nvPr/>
        </p:nvSpPr>
        <p:spPr>
          <a:xfrm>
            <a:off x="793790" y="4263509"/>
            <a:ext cx="4158615" cy="725805"/>
          </a:xfrm>
          <a:prstGeom prst="rect">
            <a:avLst/>
          </a:prstGeom>
          <a:noFill/>
          <a:ln/>
        </p:spPr>
        <p:txBody>
          <a:bodyPr wrap="square" lIns="0" tIns="0" rIns="0" bIns="0" rtlCol="0" anchor="t"/>
          <a:lstStyle/>
          <a:p>
            <a:pPr algn="l" indent="0" marL="0">
              <a:lnSpc>
                <a:spcPts val="2850"/>
              </a:lnSpc>
              <a:buNone/>
            </a:pPr>
            <a:r>
              <a:rPr lang="en-US" sz="1750" dirty="0">
                <a:solidFill>
                  <a:srgbClr val="EBECEF"/>
                </a:solidFill>
                <a:latin typeface="Epilogue" pitchFamily="34" charset="0"/>
                <a:ea typeface="Epilogue" pitchFamily="34" charset="-122"/>
                <a:cs typeface="Epilogue" pitchFamily="34" charset="-120"/>
              </a:rPr>
              <a:t>Complete source code, notebooks, and documentation available at:</a:t>
            </a:r>
            <a:endParaRPr lang="en-US" sz="1750" dirty="0"/>
          </a:p>
        </p:txBody>
      </p:sp>
      <p:sp>
        <p:nvSpPr>
          <p:cNvPr id="6" name="Text 3"/>
          <p:cNvSpPr/>
          <p:nvPr/>
        </p:nvSpPr>
        <p:spPr>
          <a:xfrm>
            <a:off x="793790" y="5125403"/>
            <a:ext cx="4158615" cy="725805"/>
          </a:xfrm>
          <a:prstGeom prst="rect">
            <a:avLst/>
          </a:prstGeom>
          <a:noFill/>
          <a:ln/>
        </p:spPr>
        <p:txBody>
          <a:bodyPr wrap="square" lIns="0" tIns="0" rIns="0" bIns="0" rtlCol="0" anchor="t"/>
          <a:lstStyle/>
          <a:p>
            <a:pPr algn="l" indent="0" marL="0">
              <a:lnSpc>
                <a:spcPts val="2850"/>
              </a:lnSpc>
              <a:buNone/>
            </a:pPr>
            <a:r>
              <a:rPr lang="en-US" sz="1750" u="sng" dirty="0">
                <a:solidFill>
                  <a:srgbClr val="8C98CA"/>
                </a:solidFill>
                <a:latin typeface="Epilogue" pitchFamily="34" charset="0"/>
                <a:ea typeface="Epilogue" pitchFamily="34" charset="-122"/>
                <a:cs typeface="Epilogue" pitchFamily="34" charset="-120"/>
                <a:hlinkClick r:id="rId2" invalidUrl="" action="" tgtFrame="" tooltip="" history="1" highlightClick="0" endSnd="0">
                  <a:extLst>
                    <a:ext uri="{A12FA001-AC4F-418D-AE19-62706E023703}">
                      <ahyp:hlinkClr xmlns:ahyp="http://schemas.microsoft.com/office/drawing/2018/hyperlinkcolor" val="tx"/>
                    </a:ext>
                  </a:extLst>
                </a:hlinkClick>
              </a:rPr>
              <a:t>g</a:t>
            </a:r>
            <a:pPr algn="l" indent="0" marL="0">
              <a:lnSpc>
                <a:spcPts val="2850"/>
              </a:lnSpc>
              <a:buNone/>
            </a:pPr>
            <a:r>
              <a:rPr lang="en-US" sz="1750" u="sng" dirty="0">
                <a:solidFill>
                  <a:srgbClr val="8C98CA"/>
                </a:solidFill>
                <a:latin typeface="Epilogue" pitchFamily="34" charset="0"/>
                <a:ea typeface="Epilogue" pitchFamily="34" charset="-122"/>
                <a:cs typeface="Epilogue"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https://github.com/samreenshakeel/Heart-Disease-Detection.git</a:t>
            </a:r>
            <a:endParaRPr lang="en-US" sz="1750" dirty="0"/>
          </a:p>
        </p:txBody>
      </p:sp>
      <p:pic>
        <p:nvPicPr>
          <p:cNvPr id="7" name="Image 1" descr="preencoded.png">    </p:cNvPr>
          <p:cNvPicPr>
            <a:picLocks noChangeAspect="1"/>
          </p:cNvPicPr>
          <p:nvPr/>
        </p:nvPicPr>
        <p:blipFill>
          <a:blip r:embed="rId4"/>
          <a:stretch>
            <a:fillRect/>
          </a:stretch>
        </p:blipFill>
        <p:spPr>
          <a:xfrm>
            <a:off x="5235893" y="2922627"/>
            <a:ext cx="566976" cy="566976"/>
          </a:xfrm>
          <a:prstGeom prst="rect">
            <a:avLst/>
          </a:prstGeom>
        </p:spPr>
      </p:pic>
      <p:sp>
        <p:nvSpPr>
          <p:cNvPr id="8" name="Text 4"/>
          <p:cNvSpPr/>
          <p:nvPr/>
        </p:nvSpPr>
        <p:spPr>
          <a:xfrm>
            <a:off x="5235893" y="3773091"/>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EBECEF"/>
                </a:solidFill>
                <a:latin typeface="Fraunces Medium" pitchFamily="34" charset="0"/>
                <a:ea typeface="Fraunces Medium" pitchFamily="34" charset="-122"/>
                <a:cs typeface="Fraunces Medium" pitchFamily="34" charset="-120"/>
              </a:rPr>
              <a:t>Final Report</a:t>
            </a:r>
            <a:endParaRPr lang="en-US" sz="2200" dirty="0"/>
          </a:p>
        </p:txBody>
      </p:sp>
      <p:sp>
        <p:nvSpPr>
          <p:cNvPr id="9" name="Text 5"/>
          <p:cNvSpPr/>
          <p:nvPr/>
        </p:nvSpPr>
        <p:spPr>
          <a:xfrm>
            <a:off x="5235893" y="4263509"/>
            <a:ext cx="4158615" cy="725805"/>
          </a:xfrm>
          <a:prstGeom prst="rect">
            <a:avLst/>
          </a:prstGeom>
          <a:noFill/>
          <a:ln/>
        </p:spPr>
        <p:txBody>
          <a:bodyPr wrap="square" lIns="0" tIns="0" rIns="0" bIns="0" rtlCol="0" anchor="t"/>
          <a:lstStyle/>
          <a:p>
            <a:pPr algn="l" indent="0" marL="0">
              <a:lnSpc>
                <a:spcPts val="2850"/>
              </a:lnSpc>
              <a:buNone/>
            </a:pPr>
            <a:r>
              <a:rPr lang="en-US" sz="1750" dirty="0">
                <a:solidFill>
                  <a:srgbClr val="EBECEF"/>
                </a:solidFill>
                <a:latin typeface="Epilogue" pitchFamily="34" charset="0"/>
                <a:ea typeface="Epilogue" pitchFamily="34" charset="-122"/>
                <a:cs typeface="Epilogue" pitchFamily="34" charset="-120"/>
              </a:rPr>
              <a:t>Comprehensive 10-page report with detailed methodology and findings:</a:t>
            </a:r>
            <a:endParaRPr lang="en-US" sz="1750" dirty="0"/>
          </a:p>
        </p:txBody>
      </p:sp>
      <p:sp>
        <p:nvSpPr>
          <p:cNvPr id="10" name="Text 6"/>
          <p:cNvSpPr/>
          <p:nvPr/>
        </p:nvSpPr>
        <p:spPr>
          <a:xfrm>
            <a:off x="5235893" y="5125403"/>
            <a:ext cx="4158615" cy="362903"/>
          </a:xfrm>
          <a:prstGeom prst="rect">
            <a:avLst/>
          </a:prstGeom>
          <a:noFill/>
          <a:ln/>
        </p:spPr>
        <p:txBody>
          <a:bodyPr wrap="none" lIns="0" tIns="0" rIns="0" bIns="0" rtlCol="0" anchor="t"/>
          <a:lstStyle/>
          <a:p>
            <a:pPr algn="l" indent="0" marL="0">
              <a:lnSpc>
                <a:spcPts val="2850"/>
              </a:lnSpc>
              <a:buNone/>
            </a:pPr>
            <a:r>
              <a:rPr lang="en-US" sz="1750" u="sng" dirty="0">
                <a:solidFill>
                  <a:srgbClr val="8C98CA"/>
                </a:solidFill>
                <a:latin typeface="Epilogue" pitchFamily="34" charset="0"/>
                <a:ea typeface="Epilogue" pitchFamily="34" charset="-122"/>
                <a:cs typeface="Epilogue" pitchFamily="34" charset="-120"/>
                <a:hlinkClick r:id="rId5" invalidUrl="" action="" tgtFrame="" tooltip="" history="1" highlightClick="0" endSnd="0">
                  <a:extLst>
                    <a:ext uri="{A12FA001-AC4F-418D-AE19-62706E023703}">
                      <ahyp:hlinkClr xmlns:ahyp="http://schemas.microsoft.com/office/drawing/2018/hyperlinkcolor" val="tx"/>
                    </a:ext>
                  </a:extLst>
                </a:hlinkClick>
              </a:rPr>
              <a:t>final_report.pdf</a:t>
            </a:r>
            <a:endParaRPr lang="en-US" sz="1750" dirty="0"/>
          </a:p>
        </p:txBody>
      </p:sp>
      <p:pic>
        <p:nvPicPr>
          <p:cNvPr id="11" name="Image 2" descr="preencoded.png">    </p:cNvPr>
          <p:cNvPicPr>
            <a:picLocks noChangeAspect="1"/>
          </p:cNvPicPr>
          <p:nvPr/>
        </p:nvPicPr>
        <p:blipFill>
          <a:blip r:embed="rId6"/>
          <a:stretch>
            <a:fillRect/>
          </a:stretch>
        </p:blipFill>
        <p:spPr>
          <a:xfrm>
            <a:off x="9677995" y="2922627"/>
            <a:ext cx="566976" cy="566976"/>
          </a:xfrm>
          <a:prstGeom prst="rect">
            <a:avLst/>
          </a:prstGeom>
        </p:spPr>
      </p:pic>
      <p:sp>
        <p:nvSpPr>
          <p:cNvPr id="12" name="Text 7"/>
          <p:cNvSpPr/>
          <p:nvPr/>
        </p:nvSpPr>
        <p:spPr>
          <a:xfrm>
            <a:off x="9677995" y="3773091"/>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EBECEF"/>
                </a:solidFill>
                <a:latin typeface="Fraunces Medium" pitchFamily="34" charset="0"/>
                <a:ea typeface="Fraunces Medium" pitchFamily="34" charset="-122"/>
                <a:cs typeface="Fraunces Medium" pitchFamily="34" charset="-120"/>
              </a:rPr>
              <a:t>Colab Notebooks</a:t>
            </a:r>
            <a:endParaRPr lang="en-US" sz="2200" dirty="0"/>
          </a:p>
        </p:txBody>
      </p:sp>
      <p:sp>
        <p:nvSpPr>
          <p:cNvPr id="13" name="Text 8"/>
          <p:cNvSpPr/>
          <p:nvPr/>
        </p:nvSpPr>
        <p:spPr>
          <a:xfrm>
            <a:off x="9677995" y="4263509"/>
            <a:ext cx="4158615" cy="1088708"/>
          </a:xfrm>
          <a:prstGeom prst="rect">
            <a:avLst/>
          </a:prstGeom>
          <a:noFill/>
          <a:ln/>
        </p:spPr>
        <p:txBody>
          <a:bodyPr wrap="square" lIns="0" tIns="0" rIns="0" bIns="0" rtlCol="0" anchor="t"/>
          <a:lstStyle/>
          <a:p>
            <a:pPr algn="l" indent="0" marL="0">
              <a:lnSpc>
                <a:spcPts val="2850"/>
              </a:lnSpc>
              <a:buNone/>
            </a:pPr>
            <a:r>
              <a:rPr lang="en-US" sz="1750" dirty="0">
                <a:solidFill>
                  <a:srgbClr val="EBECEF"/>
                </a:solidFill>
                <a:latin typeface="Epilogue" pitchFamily="34" charset="0"/>
                <a:ea typeface="Epilogue" pitchFamily="34" charset="-122"/>
                <a:cs typeface="Epilogue" pitchFamily="34" charset="-120"/>
              </a:rPr>
              <a:t>Interactive notebooks for data preprocessing, model training, and evaluation:</a:t>
            </a:r>
            <a:endParaRPr lang="en-US" sz="1750" dirty="0"/>
          </a:p>
        </p:txBody>
      </p:sp>
      <p:sp>
        <p:nvSpPr>
          <p:cNvPr id="14" name="Text 9"/>
          <p:cNvSpPr/>
          <p:nvPr/>
        </p:nvSpPr>
        <p:spPr>
          <a:xfrm>
            <a:off x="9677995" y="5488305"/>
            <a:ext cx="4158615" cy="362903"/>
          </a:xfrm>
          <a:prstGeom prst="rect">
            <a:avLst/>
          </a:prstGeom>
          <a:noFill/>
          <a:ln/>
        </p:spPr>
        <p:txBody>
          <a:bodyPr wrap="none" lIns="0" tIns="0" rIns="0" bIns="0" rtlCol="0" anchor="t"/>
          <a:lstStyle/>
          <a:p>
            <a:pPr algn="l" marL="342900" indent="-342900">
              <a:lnSpc>
                <a:spcPts val="2850"/>
              </a:lnSpc>
              <a:buSzPct val="100000"/>
              <a:buChar char="•"/>
            </a:pPr>
            <a:r>
              <a:rPr lang="en-US" sz="1750" u="sng" dirty="0">
                <a:solidFill>
                  <a:srgbClr val="8C98CA"/>
                </a:solidFill>
                <a:latin typeface="Epilogue" pitchFamily="34" charset="0"/>
                <a:ea typeface="Epilogue" pitchFamily="34" charset="-122"/>
                <a:cs typeface="Epilogue" pitchFamily="34" charset="-120"/>
                <a:hlinkClick r:id="rId7" invalidUrl="" action="" tgtFrame="" tooltip="" history="1" highlightClick="0" endSnd="0">
                  <a:extLst>
                    <a:ext uri="{A12FA001-AC4F-418D-AE19-62706E023703}">
                      <ahyp:hlinkClr xmlns:ahyp="http://schemas.microsoft.com/office/drawing/2018/hyperlinkcolor" val="tx"/>
                    </a:ext>
                  </a:extLst>
                </a:hlinkClick>
              </a:rPr>
              <a:t>Heart_Disease_Detection.ipynb</a:t>
            </a:r>
            <a:endParaRPr lang="en-US" sz="1750" dirty="0"/>
          </a:p>
        </p:txBody>
      </p:sp>
      <p:sp>
        <p:nvSpPr>
          <p:cNvPr id="15" name="Text 10"/>
          <p:cNvSpPr/>
          <p:nvPr/>
        </p:nvSpPr>
        <p:spPr>
          <a:xfrm>
            <a:off x="793790" y="6106358"/>
            <a:ext cx="13042821" cy="362903"/>
          </a:xfrm>
          <a:prstGeom prst="rect">
            <a:avLst/>
          </a:prstGeom>
          <a:noFill/>
          <a:ln/>
        </p:spPr>
        <p:txBody>
          <a:bodyPr wrap="none" lIns="0" tIns="0" rIns="0" bIns="0" rtlCol="0" anchor="t"/>
          <a:lstStyle/>
          <a:p>
            <a:pPr algn="l" indent="0" marL="0">
              <a:lnSpc>
                <a:spcPts val="2850"/>
              </a:lnSpc>
              <a:buNone/>
            </a:pPr>
            <a:endParaRPr lang="en-US" sz="1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747474" y="588288"/>
            <a:ext cx="5339358" cy="667464"/>
          </a:xfrm>
          <a:prstGeom prst="rect">
            <a:avLst/>
          </a:prstGeom>
          <a:noFill/>
          <a:ln/>
        </p:spPr>
        <p:txBody>
          <a:bodyPr wrap="none" lIns="0" tIns="0" rIns="0" bIns="0" rtlCol="0" anchor="t"/>
          <a:lstStyle/>
          <a:p>
            <a:pPr algn="l" indent="0" marL="0">
              <a:lnSpc>
                <a:spcPts val="5250"/>
              </a:lnSpc>
              <a:buNone/>
            </a:pPr>
            <a:r>
              <a:rPr lang="en-US" sz="4200" dirty="0">
                <a:solidFill>
                  <a:srgbClr val="FFFFFF"/>
                </a:solidFill>
                <a:latin typeface="Fraunces Medium" pitchFamily="34" charset="0"/>
                <a:ea typeface="Fraunces Medium" pitchFamily="34" charset="-122"/>
                <a:cs typeface="Fraunces Medium" pitchFamily="34" charset="-120"/>
              </a:rPr>
              <a:t>                                   </a:t>
            </a:r>
            <a:endParaRPr lang="en-US" sz="4200" dirty="0"/>
          </a:p>
        </p:txBody>
      </p:sp>
      <p:sp>
        <p:nvSpPr>
          <p:cNvPr id="3" name="Text 1"/>
          <p:cNvSpPr/>
          <p:nvPr/>
        </p:nvSpPr>
        <p:spPr>
          <a:xfrm>
            <a:off x="747474" y="1576030"/>
            <a:ext cx="13135451" cy="341709"/>
          </a:xfrm>
          <a:prstGeom prst="rect">
            <a:avLst/>
          </a:prstGeom>
          <a:noFill/>
          <a:ln/>
        </p:spPr>
        <p:txBody>
          <a:bodyPr wrap="none" lIns="0" tIns="0" rIns="0" bIns="0" rtlCol="0" anchor="t"/>
          <a:lstStyle/>
          <a:p>
            <a:pPr algn="l" indent="0" marL="0">
              <a:lnSpc>
                <a:spcPts val="2650"/>
              </a:lnSpc>
              <a:buNone/>
            </a:pPr>
            <a:endParaRPr lang="en-US" sz="1650" dirty="0"/>
          </a:p>
        </p:txBody>
      </p:sp>
      <p:sp>
        <p:nvSpPr>
          <p:cNvPr id="4" name="Text 2"/>
          <p:cNvSpPr/>
          <p:nvPr/>
        </p:nvSpPr>
        <p:spPr>
          <a:xfrm>
            <a:off x="747474" y="2158008"/>
            <a:ext cx="13135451" cy="341709"/>
          </a:xfrm>
          <a:prstGeom prst="rect">
            <a:avLst/>
          </a:prstGeom>
          <a:noFill/>
          <a:ln/>
        </p:spPr>
        <p:txBody>
          <a:bodyPr wrap="none" lIns="0" tIns="0" rIns="0" bIns="0" rtlCol="0" anchor="t"/>
          <a:lstStyle/>
          <a:p>
            <a:pPr algn="l" indent="0" marL="0">
              <a:lnSpc>
                <a:spcPts val="2650"/>
              </a:lnSpc>
              <a:buNone/>
            </a:pPr>
            <a:endParaRPr lang="en-US" sz="1650" dirty="0"/>
          </a:p>
        </p:txBody>
      </p:sp>
      <p:sp>
        <p:nvSpPr>
          <p:cNvPr id="5" name="Text 3"/>
          <p:cNvSpPr/>
          <p:nvPr/>
        </p:nvSpPr>
        <p:spPr>
          <a:xfrm>
            <a:off x="747474" y="2739985"/>
            <a:ext cx="13135451" cy="341709"/>
          </a:xfrm>
          <a:prstGeom prst="rect">
            <a:avLst/>
          </a:prstGeom>
          <a:noFill/>
          <a:ln/>
        </p:spPr>
        <p:txBody>
          <a:bodyPr wrap="none" lIns="0" tIns="0" rIns="0" bIns="0" rtlCol="0" anchor="t"/>
          <a:lstStyle/>
          <a:p>
            <a:pPr algn="l" indent="0" marL="0">
              <a:lnSpc>
                <a:spcPts val="2650"/>
              </a:lnSpc>
              <a:buNone/>
            </a:pPr>
            <a:endParaRPr lang="en-US" sz="1650" dirty="0"/>
          </a:p>
        </p:txBody>
      </p:sp>
      <p:sp>
        <p:nvSpPr>
          <p:cNvPr id="6" name="Text 4"/>
          <p:cNvSpPr/>
          <p:nvPr/>
        </p:nvSpPr>
        <p:spPr>
          <a:xfrm>
            <a:off x="747474" y="3321963"/>
            <a:ext cx="13135451" cy="341709"/>
          </a:xfrm>
          <a:prstGeom prst="rect">
            <a:avLst/>
          </a:prstGeom>
          <a:noFill/>
          <a:ln/>
        </p:spPr>
        <p:txBody>
          <a:bodyPr wrap="none" lIns="0" tIns="0" rIns="0" bIns="0" rtlCol="0" anchor="t"/>
          <a:lstStyle/>
          <a:p>
            <a:pPr algn="l" indent="0" marL="0">
              <a:lnSpc>
                <a:spcPts val="2650"/>
              </a:lnSpc>
              <a:buNone/>
            </a:pPr>
            <a:endParaRPr lang="en-US" sz="1650" dirty="0"/>
          </a:p>
        </p:txBody>
      </p:sp>
      <p:sp>
        <p:nvSpPr>
          <p:cNvPr id="7" name="Text 5"/>
          <p:cNvSpPr/>
          <p:nvPr/>
        </p:nvSpPr>
        <p:spPr>
          <a:xfrm>
            <a:off x="747474" y="3983950"/>
            <a:ext cx="7592378" cy="667464"/>
          </a:xfrm>
          <a:prstGeom prst="rect">
            <a:avLst/>
          </a:prstGeom>
          <a:noFill/>
          <a:ln/>
        </p:spPr>
        <p:txBody>
          <a:bodyPr wrap="none" lIns="0" tIns="0" rIns="0" bIns="0" rtlCol="0" anchor="t"/>
          <a:lstStyle/>
          <a:p>
            <a:pPr algn="l" indent="0" marL="0">
              <a:lnSpc>
                <a:spcPts val="5250"/>
              </a:lnSpc>
              <a:buNone/>
            </a:pPr>
            <a:r>
              <a:rPr lang="en-US" sz="4200" dirty="0">
                <a:solidFill>
                  <a:srgbClr val="FFFFFF"/>
                </a:solidFill>
                <a:latin typeface="Fraunces Medium" pitchFamily="34" charset="0"/>
                <a:ea typeface="Fraunces Medium" pitchFamily="34" charset="-122"/>
                <a:cs typeface="Fraunces Medium" pitchFamily="34" charset="-120"/>
              </a:rPr>
              <a:t>                                         Thank You</a:t>
            </a:r>
            <a:endParaRPr lang="en-US" sz="4200" dirty="0"/>
          </a:p>
        </p:txBody>
      </p:sp>
      <p:sp>
        <p:nvSpPr>
          <p:cNvPr id="8" name="Text 6"/>
          <p:cNvSpPr/>
          <p:nvPr/>
        </p:nvSpPr>
        <p:spPr>
          <a:xfrm>
            <a:off x="747474" y="4971693"/>
            <a:ext cx="13135451" cy="341709"/>
          </a:xfrm>
          <a:prstGeom prst="rect">
            <a:avLst/>
          </a:prstGeom>
          <a:noFill/>
          <a:ln/>
        </p:spPr>
        <p:txBody>
          <a:bodyPr wrap="none" lIns="0" tIns="0" rIns="0" bIns="0" rtlCol="0" anchor="t"/>
          <a:lstStyle/>
          <a:p>
            <a:pPr algn="l" indent="0" marL="0">
              <a:lnSpc>
                <a:spcPts val="2650"/>
              </a:lnSpc>
              <a:buNone/>
            </a:pPr>
            <a:endParaRPr lang="en-US" sz="1650" dirty="0"/>
          </a:p>
        </p:txBody>
      </p:sp>
      <p:sp>
        <p:nvSpPr>
          <p:cNvPr id="9" name="Text 7"/>
          <p:cNvSpPr/>
          <p:nvPr/>
        </p:nvSpPr>
        <p:spPr>
          <a:xfrm>
            <a:off x="747474" y="5553670"/>
            <a:ext cx="13135451" cy="341709"/>
          </a:xfrm>
          <a:prstGeom prst="rect">
            <a:avLst/>
          </a:prstGeom>
          <a:noFill/>
          <a:ln/>
        </p:spPr>
        <p:txBody>
          <a:bodyPr wrap="none" lIns="0" tIns="0" rIns="0" bIns="0" rtlCol="0" anchor="t"/>
          <a:lstStyle/>
          <a:p>
            <a:pPr algn="l" indent="0" marL="0">
              <a:lnSpc>
                <a:spcPts val="2650"/>
              </a:lnSpc>
              <a:buNone/>
            </a:pPr>
            <a:endParaRPr lang="en-US" sz="1650" dirty="0"/>
          </a:p>
        </p:txBody>
      </p:sp>
      <p:sp>
        <p:nvSpPr>
          <p:cNvPr id="10" name="Text 8"/>
          <p:cNvSpPr/>
          <p:nvPr/>
        </p:nvSpPr>
        <p:spPr>
          <a:xfrm>
            <a:off x="747474" y="6135648"/>
            <a:ext cx="13135451" cy="341709"/>
          </a:xfrm>
          <a:prstGeom prst="rect">
            <a:avLst/>
          </a:prstGeom>
          <a:noFill/>
          <a:ln/>
        </p:spPr>
        <p:txBody>
          <a:bodyPr wrap="none" lIns="0" tIns="0" rIns="0" bIns="0" rtlCol="0" anchor="t"/>
          <a:lstStyle/>
          <a:p>
            <a:pPr algn="l" indent="0" marL="0">
              <a:lnSpc>
                <a:spcPts val="2650"/>
              </a:lnSpc>
              <a:buNone/>
            </a:pPr>
            <a:endParaRPr lang="en-US" sz="1650" dirty="0"/>
          </a:p>
        </p:txBody>
      </p:sp>
      <p:sp>
        <p:nvSpPr>
          <p:cNvPr id="11" name="Text 9"/>
          <p:cNvSpPr/>
          <p:nvPr/>
        </p:nvSpPr>
        <p:spPr>
          <a:xfrm>
            <a:off x="747474" y="6717625"/>
            <a:ext cx="13135451" cy="341709"/>
          </a:xfrm>
          <a:prstGeom prst="rect">
            <a:avLst/>
          </a:prstGeom>
          <a:noFill/>
          <a:ln/>
        </p:spPr>
        <p:txBody>
          <a:bodyPr wrap="none" lIns="0" tIns="0" rIns="0" bIns="0" rtlCol="0" anchor="t"/>
          <a:lstStyle/>
          <a:p>
            <a:pPr algn="l" indent="0" marL="0">
              <a:lnSpc>
                <a:spcPts val="2650"/>
              </a:lnSpc>
              <a:buNone/>
            </a:pPr>
            <a:endParaRPr lang="en-US" sz="1650" dirty="0"/>
          </a:p>
        </p:txBody>
      </p:sp>
      <p:sp>
        <p:nvSpPr>
          <p:cNvPr id="12" name="Text 10"/>
          <p:cNvSpPr/>
          <p:nvPr/>
        </p:nvSpPr>
        <p:spPr>
          <a:xfrm>
            <a:off x="747474" y="7299603"/>
            <a:ext cx="13135451" cy="341709"/>
          </a:xfrm>
          <a:prstGeom prst="rect">
            <a:avLst/>
          </a:prstGeom>
          <a:noFill/>
          <a:ln/>
        </p:spPr>
        <p:txBody>
          <a:bodyPr wrap="none" lIns="0" tIns="0" rIns="0" bIns="0" rtlCol="0" anchor="t"/>
          <a:lstStyle/>
          <a:p>
            <a:pPr algn="l" indent="0" marL="0">
              <a:lnSpc>
                <a:spcPts val="2650"/>
              </a:lnSpc>
              <a:buNone/>
            </a:pPr>
            <a:r>
              <a:rPr lang="en-US" sz="1650" dirty="0">
                <a:solidFill>
                  <a:srgbClr val="EBECEF"/>
                </a:solidFill>
                <a:latin typeface="Epilogue" pitchFamily="34" charset="0"/>
                <a:ea typeface="Epilogue" pitchFamily="34" charset="-122"/>
                <a:cs typeface="Epilogue" pitchFamily="34" charset="-120"/>
              </a:rPr>
              <a:t> </a:t>
            </a:r>
            <a:endParaRPr lang="en-US" sz="16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2025-07-23T13:41:28Z</dcterms:created>
  <dcterms:modified xsi:type="dcterms:W3CDTF">2025-07-23T13:41:28Z</dcterms:modified>
</cp:coreProperties>
</file>